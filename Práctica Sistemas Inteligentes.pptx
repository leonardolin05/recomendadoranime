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4"/>
  </p:sldMasterIdLst>
  <p:sldIdLst>
    <p:sldId id="256" r:id="rId5"/>
    <p:sldId id="257" r:id="rId6"/>
    <p:sldId id="258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64" r:id="rId15"/>
    <p:sldId id="275" r:id="rId16"/>
    <p:sldId id="276" r:id="rId17"/>
    <p:sldId id="265" r:id="rId18"/>
    <p:sldId id="263" r:id="rId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72C0"/>
    <a:srgbClr val="004E9A"/>
    <a:srgbClr val="0513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4C5301-CFC0-4F9D-9F6D-416E809A5880}" v="92" dt="2026-05-25T21:36:37.123"/>
    <p1510:client id="{8540AC05-9736-45CD-A034-9AC4959B05AC}" v="964" dt="2026-05-25T22:02:52.776"/>
    <p1510:client id="{E0046CA3-6A1B-4B21-B7E7-57AF6FBC6630}" v="581" dt="2026-05-25T09:08:51.341"/>
    <p1510:client id="{F3010523-5D38-42B1-7B53-2F6069EB909F}" v="452" dt="2026-05-25T20:57:48.2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428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841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50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450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51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91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01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48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208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43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06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330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F631E7-047B-1E21-E93E-831270D2B0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18" b="789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3DAA3E-1972-5587-29C7-E00B5ACA5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5649211" cy="3685731"/>
          </a:xfrm>
        </p:spPr>
        <p:txBody>
          <a:bodyPr anchor="t">
            <a:normAutofit/>
          </a:bodyPr>
          <a:lstStyle/>
          <a:p>
            <a:pPr algn="l"/>
            <a:r>
              <a:rPr lang="es-ES" sz="6100"/>
              <a:t>Práctica Sistemas Inteligentes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86552B-0E5B-B8DA-4330-808FC263A9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7" y="4437176"/>
            <a:ext cx="4007587" cy="1290807"/>
          </a:xfrm>
        </p:spPr>
        <p:txBody>
          <a:bodyPr anchor="ctr">
            <a:normAutofit fontScale="55000" lnSpcReduction="20000"/>
          </a:bodyPr>
          <a:lstStyle/>
          <a:p>
            <a:pPr algn="l"/>
            <a:r>
              <a:rPr lang="es-ES" sz="2200"/>
              <a:t>Grupo 12:</a:t>
            </a:r>
          </a:p>
          <a:p>
            <a:pPr algn="l"/>
            <a:r>
              <a:rPr lang="es-ES" sz="2200"/>
              <a:t>Alejandro De Lorenzo Escribano</a:t>
            </a:r>
          </a:p>
          <a:p>
            <a:pPr algn="l"/>
            <a:r>
              <a:rPr lang="es-ES" sz="2200"/>
              <a:t>Daniel Eguíluz Amor</a:t>
            </a:r>
          </a:p>
          <a:p>
            <a:pPr algn="l"/>
            <a:r>
              <a:rPr lang="es-ES" sz="2200"/>
              <a:t>Leonardo Lin</a:t>
            </a:r>
          </a:p>
        </p:txBody>
      </p:sp>
    </p:spTree>
    <p:extLst>
      <p:ext uri="{BB962C8B-B14F-4D97-AF65-F5344CB8AC3E}">
        <p14:creationId xmlns:p14="http://schemas.microsoft.com/office/powerpoint/2010/main" val="1963604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3CD1B-DCED-772D-9DC3-683B6A95C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18570"/>
          </a:xfrm>
        </p:spPr>
        <p:txBody>
          <a:bodyPr/>
          <a:lstStyle/>
          <a:p>
            <a:r>
              <a:rPr lang="es-ES"/>
              <a:t>Sistema </a:t>
            </a:r>
            <a:r>
              <a:rPr lang="es-ES" err="1"/>
              <a:t>recomendador</a:t>
            </a:r>
            <a:r>
              <a:rPr lang="es-ES"/>
              <a:t> de animes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859C8F-2DCB-4904-4E8A-9AE03A523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2205967" cy="4903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sz="2400" b="1"/>
              <a:t>Objetivos: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A25C58D0-A983-723E-ED57-59114DA1A679}"/>
              </a:ext>
            </a:extLst>
          </p:cNvPr>
          <p:cNvSpPr txBox="1">
            <a:spLocks/>
          </p:cNvSpPr>
          <p:nvPr/>
        </p:nvSpPr>
        <p:spPr>
          <a:xfrm>
            <a:off x="612646" y="2296854"/>
            <a:ext cx="5797581" cy="490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s-ES"/>
              <a:t>Recibir preferencias anime de un género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1320E4E7-7FB6-1F54-D0DA-485D3A093045}"/>
              </a:ext>
            </a:extLst>
          </p:cNvPr>
          <p:cNvSpPr txBox="1">
            <a:spLocks/>
          </p:cNvSpPr>
          <p:nvPr/>
        </p:nvSpPr>
        <p:spPr>
          <a:xfrm>
            <a:off x="612646" y="2912810"/>
            <a:ext cx="5882422" cy="490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es-ES"/>
              <a:t>Obtener lista de animes del género a buscar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0D9AB047-142E-0F5A-9D9C-5F9C0D20671F}"/>
              </a:ext>
            </a:extLst>
          </p:cNvPr>
          <p:cNvSpPr txBox="1">
            <a:spLocks/>
          </p:cNvSpPr>
          <p:nvPr/>
        </p:nvSpPr>
        <p:spPr>
          <a:xfrm>
            <a:off x="612646" y="3528766"/>
            <a:ext cx="5797581" cy="930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es-ES"/>
              <a:t>Calcular los animes más cercanos a las preferencias aportadas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9521D9C4-8EDC-09CC-2AE2-3E0B636386E7}"/>
              </a:ext>
            </a:extLst>
          </p:cNvPr>
          <p:cNvSpPr txBox="1">
            <a:spLocks/>
          </p:cNvSpPr>
          <p:nvPr/>
        </p:nvSpPr>
        <p:spPr>
          <a:xfrm>
            <a:off x="612646" y="4584494"/>
            <a:ext cx="5250826" cy="1106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4"/>
            </a:pPr>
            <a:r>
              <a:rPr lang="es-ES"/>
              <a:t>Obtener un resumen según </a:t>
            </a:r>
            <a:r>
              <a:rPr lang="es-ES" err="1"/>
              <a:t>reviews</a:t>
            </a:r>
            <a:r>
              <a:rPr lang="es-ES"/>
              <a:t> de cada anime a mostrar</a:t>
            </a:r>
          </a:p>
        </p:txBody>
      </p:sp>
      <p:pic>
        <p:nvPicPr>
          <p:cNvPr id="8" name="Imagen 7" descr="Qué es la fijación de objetivos y por qué es importante - Glosario -  Plataforma educativa Lectera">
            <a:extLst>
              <a:ext uri="{FF2B5EF4-FFF2-40B4-BE49-F238E27FC236}">
                <a16:creationId xmlns:a16="http://schemas.microsoft.com/office/drawing/2014/main" id="{A7157C7E-4B9F-E387-F15C-05D1203B7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8078" y="2542024"/>
            <a:ext cx="4584129" cy="2581409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0981CDA8-D134-0D17-4B6B-C809F7DA1AA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78632" y="1178351"/>
            <a:ext cx="11001177" cy="0"/>
          </a:xfrm>
          <a:prstGeom prst="line">
            <a:avLst/>
          </a:prstGeom>
          <a:ln w="38100">
            <a:solidFill>
              <a:srgbClr val="2572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2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B26AF-E990-0C5E-2F3A-AB1DB65DD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C0DE32-CCC7-5F78-C798-39515C0FA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18570"/>
          </a:xfrm>
        </p:spPr>
        <p:txBody>
          <a:bodyPr/>
          <a:lstStyle/>
          <a:p>
            <a:r>
              <a:rPr lang="es-ES"/>
              <a:t>Diagrama organización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46FD730C-DD6B-E584-43D5-89957DDF24E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78632" y="1178351"/>
            <a:ext cx="11001177" cy="0"/>
          </a:xfrm>
          <a:prstGeom prst="line">
            <a:avLst/>
          </a:prstGeom>
          <a:ln w="38100">
            <a:solidFill>
              <a:srgbClr val="2572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>
            <a:extLst>
              <a:ext uri="{FF2B5EF4-FFF2-40B4-BE49-F238E27FC236}">
                <a16:creationId xmlns:a16="http://schemas.microsoft.com/office/drawing/2014/main" id="{A465687C-0F2D-30AC-0EC6-FD8B5783AA59}"/>
              </a:ext>
            </a:extLst>
          </p:cNvPr>
          <p:cNvSpPr/>
          <p:nvPr/>
        </p:nvSpPr>
        <p:spPr>
          <a:xfrm>
            <a:off x="1923066" y="2055040"/>
            <a:ext cx="2036191" cy="1093511"/>
          </a:xfrm>
          <a:prstGeom prst="ellipse">
            <a:avLst/>
          </a:prstGeom>
          <a:solidFill>
            <a:srgbClr val="004E9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s-ES" sz="1600" err="1"/>
              <a:t>UIAgent</a:t>
            </a:r>
            <a:endParaRPr lang="es-ES" sz="1600"/>
          </a:p>
          <a:p>
            <a:pPr algn="ctr"/>
            <a:r>
              <a:rPr lang="es-ES" sz="1100"/>
              <a:t>- Registra servicio de interfaz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E61A3015-EAE9-9064-EA32-4F088F06C274}"/>
              </a:ext>
            </a:extLst>
          </p:cNvPr>
          <p:cNvSpPr/>
          <p:nvPr/>
        </p:nvSpPr>
        <p:spPr>
          <a:xfrm>
            <a:off x="7528204" y="4765213"/>
            <a:ext cx="2921759" cy="1299329"/>
          </a:xfrm>
          <a:prstGeom prst="ellipse">
            <a:avLst/>
          </a:prstGeom>
          <a:solidFill>
            <a:srgbClr val="004E9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err="1"/>
              <a:t>AnimeDataAgent</a:t>
            </a:r>
            <a:endParaRPr lang="es-ES" sz="1600" dirty="0" err="1"/>
          </a:p>
          <a:p>
            <a:pPr algn="ctr">
              <a:lnSpc>
                <a:spcPct val="150000"/>
              </a:lnSpc>
            </a:pPr>
            <a:r>
              <a:rPr lang="es-ES" sz="1100"/>
              <a:t>- Registra servicio de animes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849F113C-042E-6968-12F6-ACEF34889767}"/>
              </a:ext>
            </a:extLst>
          </p:cNvPr>
          <p:cNvSpPr/>
          <p:nvPr/>
        </p:nvSpPr>
        <p:spPr>
          <a:xfrm>
            <a:off x="5939437" y="1824879"/>
            <a:ext cx="3877559" cy="1553835"/>
          </a:xfrm>
          <a:prstGeom prst="ellipse">
            <a:avLst/>
          </a:prstGeom>
          <a:solidFill>
            <a:srgbClr val="004E9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err="1"/>
              <a:t>RecommendationAgent</a:t>
            </a:r>
            <a:endParaRPr lang="es-ES" sz="1600"/>
          </a:p>
          <a:p>
            <a:pPr algn="ctr">
              <a:lnSpc>
                <a:spcPct val="150000"/>
              </a:lnSpc>
            </a:pPr>
            <a:r>
              <a:rPr lang="es-ES" sz="1100"/>
              <a:t>- Registra servicio de recomendar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9361F102-4644-6099-5B6E-12AC1047C134}"/>
              </a:ext>
            </a:extLst>
          </p:cNvPr>
          <p:cNvSpPr/>
          <p:nvPr/>
        </p:nvSpPr>
        <p:spPr>
          <a:xfrm>
            <a:off x="893602" y="4033101"/>
            <a:ext cx="3563333" cy="1567199"/>
          </a:xfrm>
          <a:prstGeom prst="ellipse">
            <a:avLst/>
          </a:prstGeom>
          <a:solidFill>
            <a:srgbClr val="004E9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err="1"/>
              <a:t>ReviewRecoverAgent</a:t>
            </a:r>
            <a:endParaRPr lang="es-ES" sz="1600" dirty="0" err="1"/>
          </a:p>
          <a:p>
            <a:pPr algn="ctr">
              <a:lnSpc>
                <a:spcPct val="150000"/>
              </a:lnSpc>
            </a:pPr>
            <a:r>
              <a:rPr lang="es-ES" sz="1100"/>
              <a:t>- Registra servicio de </a:t>
            </a:r>
            <a:r>
              <a:rPr lang="es-ES" sz="1100" err="1"/>
              <a:t>reviews</a:t>
            </a:r>
            <a:endParaRPr lang="es-ES" sz="1100"/>
          </a:p>
        </p:txBody>
      </p:sp>
      <p:pic>
        <p:nvPicPr>
          <p:cNvPr id="33" name="Gráfico 32" descr="Sobre con relleno sólido">
            <a:extLst>
              <a:ext uri="{FF2B5EF4-FFF2-40B4-BE49-F238E27FC236}">
                <a16:creationId xmlns:a16="http://schemas.microsoft.com/office/drawing/2014/main" id="{51BAD3C0-DE5F-F188-6B34-A910AFC6BC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7364" y="3148551"/>
            <a:ext cx="518476" cy="518476"/>
          </a:xfrm>
          <a:prstGeom prst="rect">
            <a:avLst/>
          </a:prstGeom>
        </p:spPr>
      </p:pic>
      <p:cxnSp>
        <p:nvCxnSpPr>
          <p:cNvPr id="37" name="Conector: curvado 36">
            <a:extLst>
              <a:ext uri="{FF2B5EF4-FFF2-40B4-BE49-F238E27FC236}">
                <a16:creationId xmlns:a16="http://schemas.microsoft.com/office/drawing/2014/main" id="{D5928BD2-5B41-28AF-F80B-34DAB9E18C6E}"/>
              </a:ext>
            </a:extLst>
          </p:cNvPr>
          <p:cNvCxnSpPr>
            <a:cxnSpLocks/>
            <a:stCxn id="14" idx="3"/>
            <a:endCxn id="13" idx="2"/>
          </p:cNvCxnSpPr>
          <p:nvPr/>
        </p:nvCxnSpPr>
        <p:spPr>
          <a:xfrm rot="16200000" flipH="1">
            <a:off x="5885889" y="3772563"/>
            <a:ext cx="2263718" cy="1020912"/>
          </a:xfrm>
          <a:prstGeom prst="curvedConnector2">
            <a:avLst/>
          </a:prstGeom>
          <a:ln w="28575">
            <a:solidFill>
              <a:srgbClr val="05132D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: curvado 40">
            <a:extLst>
              <a:ext uri="{FF2B5EF4-FFF2-40B4-BE49-F238E27FC236}">
                <a16:creationId xmlns:a16="http://schemas.microsoft.com/office/drawing/2014/main" id="{18DFE7B6-4D48-1796-3D12-4E4BFB0DADF0}"/>
              </a:ext>
            </a:extLst>
          </p:cNvPr>
          <p:cNvCxnSpPr>
            <a:cxnSpLocks/>
            <a:stCxn id="13" idx="6"/>
            <a:endCxn id="14" idx="6"/>
          </p:cNvCxnSpPr>
          <p:nvPr/>
        </p:nvCxnSpPr>
        <p:spPr>
          <a:xfrm flipH="1" flipV="1">
            <a:off x="9816996" y="2601797"/>
            <a:ext cx="632967" cy="2813081"/>
          </a:xfrm>
          <a:prstGeom prst="curvedConnector3">
            <a:avLst>
              <a:gd name="adj1" fmla="val -36116"/>
            </a:avLst>
          </a:prstGeom>
          <a:ln w="28575">
            <a:solidFill>
              <a:srgbClr val="05132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: curvado 55">
            <a:extLst>
              <a:ext uri="{FF2B5EF4-FFF2-40B4-BE49-F238E27FC236}">
                <a16:creationId xmlns:a16="http://schemas.microsoft.com/office/drawing/2014/main" id="{CCA516C1-0E68-1E18-0800-B6B187D1DD83}"/>
              </a:ext>
            </a:extLst>
          </p:cNvPr>
          <p:cNvCxnSpPr>
            <a:stCxn id="12" idx="7"/>
            <a:endCxn id="14" idx="1"/>
          </p:cNvCxnSpPr>
          <p:nvPr/>
        </p:nvCxnSpPr>
        <p:spPr>
          <a:xfrm rot="5400000" flipH="1" flipV="1">
            <a:off x="5002804" y="710693"/>
            <a:ext cx="162748" cy="2846228"/>
          </a:xfrm>
          <a:prstGeom prst="curvedConnector3">
            <a:avLst>
              <a:gd name="adj1" fmla="val 380282"/>
            </a:avLst>
          </a:prstGeom>
          <a:ln w="28575">
            <a:solidFill>
              <a:srgbClr val="05132D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: curvado 59">
            <a:extLst>
              <a:ext uri="{FF2B5EF4-FFF2-40B4-BE49-F238E27FC236}">
                <a16:creationId xmlns:a16="http://schemas.microsoft.com/office/drawing/2014/main" id="{B55DF0EF-256F-D106-E675-591030FE077D}"/>
              </a:ext>
            </a:extLst>
          </p:cNvPr>
          <p:cNvCxnSpPr>
            <a:stCxn id="15" idx="1"/>
            <a:endCxn id="12" idx="2"/>
          </p:cNvCxnSpPr>
          <p:nvPr/>
        </p:nvCxnSpPr>
        <p:spPr>
          <a:xfrm rot="5400000" flipH="1" flipV="1">
            <a:off x="838845" y="3178391"/>
            <a:ext cx="1660816" cy="507626"/>
          </a:xfrm>
          <a:prstGeom prst="curvedConnector2">
            <a:avLst/>
          </a:prstGeom>
          <a:ln w="28575">
            <a:solidFill>
              <a:srgbClr val="05132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: curvado 66">
            <a:extLst>
              <a:ext uri="{FF2B5EF4-FFF2-40B4-BE49-F238E27FC236}">
                <a16:creationId xmlns:a16="http://schemas.microsoft.com/office/drawing/2014/main" id="{B4A02B59-9215-5506-2841-94D7492B100B}"/>
              </a:ext>
            </a:extLst>
          </p:cNvPr>
          <p:cNvCxnSpPr>
            <a:stCxn id="14" idx="2"/>
            <a:endCxn id="15" idx="6"/>
          </p:cNvCxnSpPr>
          <p:nvPr/>
        </p:nvCxnSpPr>
        <p:spPr>
          <a:xfrm rot="10800000" flipV="1">
            <a:off x="4456935" y="2601797"/>
            <a:ext cx="1482502" cy="2214904"/>
          </a:xfrm>
          <a:prstGeom prst="curvedConnector3">
            <a:avLst>
              <a:gd name="adj1" fmla="val 10576"/>
            </a:avLst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Gráfico 71" descr="Sobre con relleno sólido">
            <a:extLst>
              <a:ext uri="{FF2B5EF4-FFF2-40B4-BE49-F238E27FC236}">
                <a16:creationId xmlns:a16="http://schemas.microsoft.com/office/drawing/2014/main" id="{C2AC58A4-3D1A-7C6C-A1A5-620F9FBC0F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7799" y="3749099"/>
            <a:ext cx="518476" cy="518476"/>
          </a:xfrm>
          <a:prstGeom prst="rect">
            <a:avLst/>
          </a:prstGeom>
        </p:spPr>
      </p:pic>
      <p:sp>
        <p:nvSpPr>
          <p:cNvPr id="76" name="Rectángulo 75">
            <a:extLst>
              <a:ext uri="{FF2B5EF4-FFF2-40B4-BE49-F238E27FC236}">
                <a16:creationId xmlns:a16="http://schemas.microsoft.com/office/drawing/2014/main" id="{FA65BF65-19E5-7193-ED0C-39A3E322F1E6}"/>
              </a:ext>
            </a:extLst>
          </p:cNvPr>
          <p:cNvSpPr/>
          <p:nvPr/>
        </p:nvSpPr>
        <p:spPr>
          <a:xfrm>
            <a:off x="9614664" y="5736899"/>
            <a:ext cx="1674000" cy="655286"/>
          </a:xfrm>
          <a:prstGeom prst="rect">
            <a:avLst/>
          </a:prstGeom>
          <a:solidFill>
            <a:srgbClr val="2572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/>
              <a:t>Agente que obtiene lista animes</a:t>
            </a: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2FC2FF50-7B59-F19E-D31E-6471A3042DAA}"/>
              </a:ext>
            </a:extLst>
          </p:cNvPr>
          <p:cNvSpPr/>
          <p:nvPr/>
        </p:nvSpPr>
        <p:spPr>
          <a:xfrm>
            <a:off x="9061156" y="1611655"/>
            <a:ext cx="1674000" cy="655286"/>
          </a:xfrm>
          <a:prstGeom prst="rect">
            <a:avLst/>
          </a:prstGeom>
          <a:solidFill>
            <a:srgbClr val="2572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/>
              <a:t>Agente que realiza cálculos</a:t>
            </a: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281C142F-049B-C706-AB5E-8C1343B2C160}"/>
              </a:ext>
            </a:extLst>
          </p:cNvPr>
          <p:cNvSpPr/>
          <p:nvPr/>
        </p:nvSpPr>
        <p:spPr>
          <a:xfrm>
            <a:off x="329602" y="5272657"/>
            <a:ext cx="1674000" cy="655286"/>
          </a:xfrm>
          <a:prstGeom prst="rect">
            <a:avLst/>
          </a:prstGeom>
          <a:solidFill>
            <a:srgbClr val="2572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/>
              <a:t>Agente que obtiene </a:t>
            </a:r>
            <a:r>
              <a:rPr lang="es-ES" sz="1100" err="1"/>
              <a:t>reviews</a:t>
            </a:r>
            <a:r>
              <a:rPr lang="es-ES" sz="1100"/>
              <a:t> resumidas</a:t>
            </a: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E2E2BE41-BFFD-AC42-B351-66F31FC1DC65}"/>
              </a:ext>
            </a:extLst>
          </p:cNvPr>
          <p:cNvSpPr/>
          <p:nvPr/>
        </p:nvSpPr>
        <p:spPr>
          <a:xfrm>
            <a:off x="736602" y="1727224"/>
            <a:ext cx="1674000" cy="655286"/>
          </a:xfrm>
          <a:prstGeom prst="rect">
            <a:avLst/>
          </a:prstGeom>
          <a:solidFill>
            <a:srgbClr val="2572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/>
              <a:t>Agente que maneja interfaz</a:t>
            </a:r>
          </a:p>
        </p:txBody>
      </p:sp>
      <p:pic>
        <p:nvPicPr>
          <p:cNvPr id="81" name="Imagen 80" descr="GitHub - jikan-me/jikan-rest: The REST API for Jikan · GitHub">
            <a:extLst>
              <a:ext uri="{FF2B5EF4-FFF2-40B4-BE49-F238E27FC236}">
                <a16:creationId xmlns:a16="http://schemas.microsoft.com/office/drawing/2014/main" id="{8145C7C1-BE53-413A-83D0-F6B0AE247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338" y="5736899"/>
            <a:ext cx="1296954" cy="759934"/>
          </a:xfrm>
          <a:prstGeom prst="rect">
            <a:avLst/>
          </a:prstGeom>
        </p:spPr>
      </p:pic>
      <p:cxnSp>
        <p:nvCxnSpPr>
          <p:cNvPr id="85" name="Conector: curvado 84">
            <a:extLst>
              <a:ext uri="{FF2B5EF4-FFF2-40B4-BE49-F238E27FC236}">
                <a16:creationId xmlns:a16="http://schemas.microsoft.com/office/drawing/2014/main" id="{ECE7D41C-A7F0-8A11-3DBA-5CA12919EFD3}"/>
              </a:ext>
            </a:extLst>
          </p:cNvPr>
          <p:cNvCxnSpPr>
            <a:stCxn id="15" idx="5"/>
            <a:endCxn id="81" idx="1"/>
          </p:cNvCxnSpPr>
          <p:nvPr/>
        </p:nvCxnSpPr>
        <p:spPr>
          <a:xfrm rot="16200000" flipH="1">
            <a:off x="4199679" y="5106206"/>
            <a:ext cx="746077" cy="1275241"/>
          </a:xfrm>
          <a:prstGeom prst="curvedConnector2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: curvado 86">
            <a:extLst>
              <a:ext uri="{FF2B5EF4-FFF2-40B4-BE49-F238E27FC236}">
                <a16:creationId xmlns:a16="http://schemas.microsoft.com/office/drawing/2014/main" id="{B2CF35BF-AA67-18CF-9DCF-E3EB2F0DC581}"/>
              </a:ext>
            </a:extLst>
          </p:cNvPr>
          <p:cNvCxnSpPr>
            <a:stCxn id="13" idx="3"/>
            <a:endCxn id="81" idx="3"/>
          </p:cNvCxnSpPr>
          <p:nvPr/>
        </p:nvCxnSpPr>
        <p:spPr>
          <a:xfrm rot="5400000">
            <a:off x="7110386" y="5271166"/>
            <a:ext cx="242606" cy="1448794"/>
          </a:xfrm>
          <a:prstGeom prst="curvedConnector2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Imagen 87" descr="Groq is fast, low cost inference.">
            <a:extLst>
              <a:ext uri="{FF2B5EF4-FFF2-40B4-BE49-F238E27FC236}">
                <a16:creationId xmlns:a16="http://schemas.microsoft.com/office/drawing/2014/main" id="{9AE4F820-85A4-46C1-C4F4-BA40C68D0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8584" y="3044624"/>
            <a:ext cx="1064617" cy="558924"/>
          </a:xfrm>
          <a:prstGeom prst="rect">
            <a:avLst/>
          </a:prstGeom>
        </p:spPr>
      </p:pic>
      <p:cxnSp>
        <p:nvCxnSpPr>
          <p:cNvPr id="90" name="Conector: curvado 89">
            <a:extLst>
              <a:ext uri="{FF2B5EF4-FFF2-40B4-BE49-F238E27FC236}">
                <a16:creationId xmlns:a16="http://schemas.microsoft.com/office/drawing/2014/main" id="{E11DE04A-4916-2C99-8662-456A94D44D86}"/>
              </a:ext>
            </a:extLst>
          </p:cNvPr>
          <p:cNvCxnSpPr>
            <a:stCxn id="12" idx="6"/>
            <a:endCxn id="88" idx="0"/>
          </p:cNvCxnSpPr>
          <p:nvPr/>
        </p:nvCxnSpPr>
        <p:spPr>
          <a:xfrm>
            <a:off x="3959257" y="2601796"/>
            <a:ext cx="631636" cy="442828"/>
          </a:xfrm>
          <a:prstGeom prst="curvedConnector2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: curvado 91">
            <a:extLst>
              <a:ext uri="{FF2B5EF4-FFF2-40B4-BE49-F238E27FC236}">
                <a16:creationId xmlns:a16="http://schemas.microsoft.com/office/drawing/2014/main" id="{D592F39A-5883-D130-8618-F41BF717E206}"/>
              </a:ext>
            </a:extLst>
          </p:cNvPr>
          <p:cNvCxnSpPr>
            <a:stCxn id="15" idx="7"/>
            <a:endCxn id="88" idx="2"/>
          </p:cNvCxnSpPr>
          <p:nvPr/>
        </p:nvCxnSpPr>
        <p:spPr>
          <a:xfrm rot="5400000" flipH="1" flipV="1">
            <a:off x="3933463" y="3605182"/>
            <a:ext cx="659064" cy="655796"/>
          </a:xfrm>
          <a:prstGeom prst="curvedConnector3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4" name="Gráfico 93" descr="Sobre con relleno sólido">
            <a:extLst>
              <a:ext uri="{FF2B5EF4-FFF2-40B4-BE49-F238E27FC236}">
                <a16:creationId xmlns:a16="http://schemas.microsoft.com/office/drawing/2014/main" id="{3D485DA3-FD11-6921-90EB-1DDC62D04C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79851" y="3972484"/>
            <a:ext cx="518476" cy="518476"/>
          </a:xfrm>
          <a:prstGeom prst="rect">
            <a:avLst/>
          </a:prstGeom>
        </p:spPr>
      </p:pic>
      <p:pic>
        <p:nvPicPr>
          <p:cNvPr id="95" name="Gráfico 94" descr="Sobre con relleno sólido">
            <a:extLst>
              <a:ext uri="{FF2B5EF4-FFF2-40B4-BE49-F238E27FC236}">
                <a16:creationId xmlns:a16="http://schemas.microsoft.com/office/drawing/2014/main" id="{1CFB4E96-A888-D843-4FB5-D2BCAD0181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24940" y="1590685"/>
            <a:ext cx="518476" cy="518476"/>
          </a:xfrm>
          <a:prstGeom prst="rect">
            <a:avLst/>
          </a:prstGeom>
        </p:spPr>
      </p:pic>
      <p:pic>
        <p:nvPicPr>
          <p:cNvPr id="96" name="Gráfico 95" descr="Sobre con relleno sólido">
            <a:extLst>
              <a:ext uri="{FF2B5EF4-FFF2-40B4-BE49-F238E27FC236}">
                <a16:creationId xmlns:a16="http://schemas.microsoft.com/office/drawing/2014/main" id="{CA9BDDFB-F009-CCCB-E1A4-1CD4D1AEFB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81101" y="3804408"/>
            <a:ext cx="518476" cy="51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611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C2A47-284E-C30E-08F7-456DA7D84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AEF1C6-F0B4-3189-550F-17A6611CE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18570"/>
          </a:xfrm>
        </p:spPr>
        <p:txBody>
          <a:bodyPr/>
          <a:lstStyle/>
          <a:p>
            <a:r>
              <a:rPr lang="es-ES" dirty="0"/>
              <a:t>Diagrama organización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6CAACBE3-AAC3-A385-321E-E043CBCF9A1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78632" y="1178351"/>
            <a:ext cx="11001177" cy="0"/>
          </a:xfrm>
          <a:prstGeom prst="line">
            <a:avLst/>
          </a:prstGeom>
          <a:ln w="38100">
            <a:solidFill>
              <a:srgbClr val="2572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>
            <a:extLst>
              <a:ext uri="{FF2B5EF4-FFF2-40B4-BE49-F238E27FC236}">
                <a16:creationId xmlns:a16="http://schemas.microsoft.com/office/drawing/2014/main" id="{4A0F4FB6-2B46-2E33-4164-88586F9DC6F3}"/>
              </a:ext>
            </a:extLst>
          </p:cNvPr>
          <p:cNvSpPr/>
          <p:nvPr/>
        </p:nvSpPr>
        <p:spPr>
          <a:xfrm>
            <a:off x="1376215" y="3174475"/>
            <a:ext cx="2036191" cy="1093511"/>
          </a:xfrm>
          <a:prstGeom prst="ellipse">
            <a:avLst/>
          </a:prstGeom>
          <a:solidFill>
            <a:srgbClr val="004E9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s-ES" sz="1600" dirty="0" err="1"/>
              <a:t>UIAgent</a:t>
            </a:r>
            <a:endParaRPr lang="es-ES" sz="1600" dirty="0"/>
          </a:p>
          <a:p>
            <a:pPr algn="ctr"/>
            <a:r>
              <a:rPr lang="es-ES" sz="1100" dirty="0"/>
              <a:t>- Registra servicio de interfaz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92E0513-BA6A-19DF-0E3C-756119F8A58C}"/>
              </a:ext>
            </a:extLst>
          </p:cNvPr>
          <p:cNvSpPr txBox="1"/>
          <p:nvPr/>
        </p:nvSpPr>
        <p:spPr>
          <a:xfrm>
            <a:off x="5000869" y="3213399"/>
            <a:ext cx="5586786" cy="10156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ES" sz="2000" b="1" dirty="0" err="1"/>
              <a:t>CyclicBehaviour</a:t>
            </a:r>
            <a:endParaRPr lang="es-E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Esperar INFORM de </a:t>
            </a:r>
            <a:r>
              <a:rPr lang="es-ES" sz="2000" dirty="0" err="1"/>
              <a:t>ReviewRecoverAgent</a:t>
            </a:r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Mostrar animes recomendados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4A2328A-2D08-5BB9-062B-2E5F07DBAE01}"/>
              </a:ext>
            </a:extLst>
          </p:cNvPr>
          <p:cNvCxnSpPr>
            <a:cxnSpLocks/>
            <a:stCxn id="12" idx="6"/>
            <a:endCxn id="6" idx="1"/>
          </p:cNvCxnSpPr>
          <p:nvPr/>
        </p:nvCxnSpPr>
        <p:spPr>
          <a:xfrm>
            <a:off x="3412406" y="3721231"/>
            <a:ext cx="158846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2436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C0A37-C7F5-4C73-7184-183C72634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0C3E19-0CA1-D986-9C75-E32375E3D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18570"/>
          </a:xfrm>
        </p:spPr>
        <p:txBody>
          <a:bodyPr/>
          <a:lstStyle/>
          <a:p>
            <a:r>
              <a:rPr lang="es-ES" dirty="0"/>
              <a:t>Diagrama organización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8A57C56B-91F4-5EFC-1533-FCF7BE64957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78632" y="1178351"/>
            <a:ext cx="11001177" cy="0"/>
          </a:xfrm>
          <a:prstGeom prst="line">
            <a:avLst/>
          </a:prstGeom>
          <a:ln w="38100">
            <a:solidFill>
              <a:srgbClr val="2572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>
            <a:extLst>
              <a:ext uri="{FF2B5EF4-FFF2-40B4-BE49-F238E27FC236}">
                <a16:creationId xmlns:a16="http://schemas.microsoft.com/office/drawing/2014/main" id="{3A22DC8E-4CE3-22F7-8044-11347C4CFED7}"/>
              </a:ext>
            </a:extLst>
          </p:cNvPr>
          <p:cNvSpPr/>
          <p:nvPr/>
        </p:nvSpPr>
        <p:spPr>
          <a:xfrm>
            <a:off x="1923066" y="2055040"/>
            <a:ext cx="2036191" cy="1093511"/>
          </a:xfrm>
          <a:prstGeom prst="ellipse">
            <a:avLst/>
          </a:prstGeom>
          <a:solidFill>
            <a:srgbClr val="004E9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s-ES" sz="1600" dirty="0" err="1"/>
              <a:t>UIAgent</a:t>
            </a:r>
            <a:endParaRPr lang="es-ES" sz="1600" dirty="0"/>
          </a:p>
          <a:p>
            <a:pPr algn="ctr"/>
            <a:r>
              <a:rPr lang="es-ES" sz="1100" dirty="0"/>
              <a:t>- Registra servicio de interfaz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81319387-C859-EE3C-2744-BE30752F65ED}"/>
              </a:ext>
            </a:extLst>
          </p:cNvPr>
          <p:cNvSpPr/>
          <p:nvPr/>
        </p:nvSpPr>
        <p:spPr>
          <a:xfrm>
            <a:off x="7528204" y="4765213"/>
            <a:ext cx="2921759" cy="1299329"/>
          </a:xfrm>
          <a:prstGeom prst="ellipse">
            <a:avLst/>
          </a:prstGeom>
          <a:solidFill>
            <a:srgbClr val="004E9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err="1"/>
              <a:t>AnimeDataAgent</a:t>
            </a:r>
          </a:p>
          <a:p>
            <a:pPr algn="ctr">
              <a:lnSpc>
                <a:spcPct val="150000"/>
              </a:lnSpc>
            </a:pPr>
            <a:r>
              <a:rPr lang="es-ES" sz="1100"/>
              <a:t>- Registra servicio de animes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E3121A8C-7249-DDF9-A33A-2CBABE1A6905}"/>
              </a:ext>
            </a:extLst>
          </p:cNvPr>
          <p:cNvSpPr/>
          <p:nvPr/>
        </p:nvSpPr>
        <p:spPr>
          <a:xfrm>
            <a:off x="5939437" y="1824879"/>
            <a:ext cx="3877559" cy="1553835"/>
          </a:xfrm>
          <a:prstGeom prst="ellipse">
            <a:avLst/>
          </a:prstGeom>
          <a:solidFill>
            <a:srgbClr val="004E9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err="1"/>
              <a:t>RecommendationAgent</a:t>
            </a:r>
            <a:endParaRPr lang="es-ES" sz="1600" dirty="0"/>
          </a:p>
          <a:p>
            <a:pPr algn="ctr">
              <a:lnSpc>
                <a:spcPct val="150000"/>
              </a:lnSpc>
            </a:pPr>
            <a:r>
              <a:rPr lang="es-ES" sz="1100" dirty="0"/>
              <a:t>- Registra servicio de recomendar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D4E5195F-B552-271B-4BB9-BB01080076CC}"/>
              </a:ext>
            </a:extLst>
          </p:cNvPr>
          <p:cNvSpPr/>
          <p:nvPr/>
        </p:nvSpPr>
        <p:spPr>
          <a:xfrm>
            <a:off x="893602" y="4033101"/>
            <a:ext cx="3563333" cy="1567199"/>
          </a:xfrm>
          <a:prstGeom prst="ellipse">
            <a:avLst/>
          </a:prstGeom>
          <a:solidFill>
            <a:srgbClr val="004E9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err="1"/>
              <a:t>ReviewRecoverAgent</a:t>
            </a:r>
          </a:p>
          <a:p>
            <a:pPr algn="ctr">
              <a:lnSpc>
                <a:spcPct val="150000"/>
              </a:lnSpc>
            </a:pPr>
            <a:r>
              <a:rPr lang="es-ES" sz="1100"/>
              <a:t>- Registra servicio de </a:t>
            </a:r>
            <a:r>
              <a:rPr lang="es-ES" sz="1100" err="1"/>
              <a:t>reviews</a:t>
            </a:r>
            <a:endParaRPr lang="es-ES" sz="1100"/>
          </a:p>
        </p:txBody>
      </p:sp>
      <p:pic>
        <p:nvPicPr>
          <p:cNvPr id="33" name="Gráfico 32" descr="Sobre con relleno sólido">
            <a:extLst>
              <a:ext uri="{FF2B5EF4-FFF2-40B4-BE49-F238E27FC236}">
                <a16:creationId xmlns:a16="http://schemas.microsoft.com/office/drawing/2014/main" id="{5F1412D8-8668-015A-1C54-449BC50DC3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7364" y="3148551"/>
            <a:ext cx="518476" cy="518476"/>
          </a:xfrm>
          <a:prstGeom prst="rect">
            <a:avLst/>
          </a:prstGeom>
        </p:spPr>
      </p:pic>
      <p:cxnSp>
        <p:nvCxnSpPr>
          <p:cNvPr id="37" name="Conector: curvado 36">
            <a:extLst>
              <a:ext uri="{FF2B5EF4-FFF2-40B4-BE49-F238E27FC236}">
                <a16:creationId xmlns:a16="http://schemas.microsoft.com/office/drawing/2014/main" id="{1B5E4E6C-E039-9EC9-73EE-CFD895C756B7}"/>
              </a:ext>
            </a:extLst>
          </p:cNvPr>
          <p:cNvCxnSpPr>
            <a:cxnSpLocks/>
            <a:stCxn id="14" idx="3"/>
            <a:endCxn id="13" idx="2"/>
          </p:cNvCxnSpPr>
          <p:nvPr/>
        </p:nvCxnSpPr>
        <p:spPr>
          <a:xfrm rot="16200000" flipH="1">
            <a:off x="5885889" y="3772563"/>
            <a:ext cx="2263718" cy="1020912"/>
          </a:xfrm>
          <a:prstGeom prst="curvedConnector2">
            <a:avLst/>
          </a:prstGeom>
          <a:ln w="28575">
            <a:solidFill>
              <a:srgbClr val="05132D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: curvado 40">
            <a:extLst>
              <a:ext uri="{FF2B5EF4-FFF2-40B4-BE49-F238E27FC236}">
                <a16:creationId xmlns:a16="http://schemas.microsoft.com/office/drawing/2014/main" id="{E80A9D29-8615-9908-1E11-06136FE87441}"/>
              </a:ext>
            </a:extLst>
          </p:cNvPr>
          <p:cNvCxnSpPr>
            <a:cxnSpLocks/>
            <a:stCxn id="13" idx="6"/>
            <a:endCxn id="14" idx="6"/>
          </p:cNvCxnSpPr>
          <p:nvPr/>
        </p:nvCxnSpPr>
        <p:spPr>
          <a:xfrm flipH="1" flipV="1">
            <a:off x="9816996" y="2601797"/>
            <a:ext cx="632967" cy="2813081"/>
          </a:xfrm>
          <a:prstGeom prst="curvedConnector3">
            <a:avLst>
              <a:gd name="adj1" fmla="val -36116"/>
            </a:avLst>
          </a:prstGeom>
          <a:ln w="28575">
            <a:solidFill>
              <a:srgbClr val="05132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: curvado 55">
            <a:extLst>
              <a:ext uri="{FF2B5EF4-FFF2-40B4-BE49-F238E27FC236}">
                <a16:creationId xmlns:a16="http://schemas.microsoft.com/office/drawing/2014/main" id="{97103ED7-6B58-7E60-4A78-1A8C7FD92595}"/>
              </a:ext>
            </a:extLst>
          </p:cNvPr>
          <p:cNvCxnSpPr>
            <a:stCxn id="12" idx="7"/>
            <a:endCxn id="14" idx="1"/>
          </p:cNvCxnSpPr>
          <p:nvPr/>
        </p:nvCxnSpPr>
        <p:spPr>
          <a:xfrm rot="5400000" flipH="1" flipV="1">
            <a:off x="5002804" y="710693"/>
            <a:ext cx="162748" cy="2846228"/>
          </a:xfrm>
          <a:prstGeom prst="curvedConnector3">
            <a:avLst>
              <a:gd name="adj1" fmla="val 380282"/>
            </a:avLst>
          </a:prstGeom>
          <a:ln w="28575">
            <a:solidFill>
              <a:srgbClr val="05132D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: curvado 59">
            <a:extLst>
              <a:ext uri="{FF2B5EF4-FFF2-40B4-BE49-F238E27FC236}">
                <a16:creationId xmlns:a16="http://schemas.microsoft.com/office/drawing/2014/main" id="{A1E23224-2A62-E615-9A1B-D8C0ECF3955D}"/>
              </a:ext>
            </a:extLst>
          </p:cNvPr>
          <p:cNvCxnSpPr>
            <a:stCxn id="15" idx="1"/>
            <a:endCxn id="12" idx="2"/>
          </p:cNvCxnSpPr>
          <p:nvPr/>
        </p:nvCxnSpPr>
        <p:spPr>
          <a:xfrm rot="5400000" flipH="1" flipV="1">
            <a:off x="838845" y="3178391"/>
            <a:ext cx="1660816" cy="507626"/>
          </a:xfrm>
          <a:prstGeom prst="curvedConnector2">
            <a:avLst/>
          </a:prstGeom>
          <a:ln w="28575">
            <a:solidFill>
              <a:srgbClr val="05132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: curvado 66">
            <a:extLst>
              <a:ext uri="{FF2B5EF4-FFF2-40B4-BE49-F238E27FC236}">
                <a16:creationId xmlns:a16="http://schemas.microsoft.com/office/drawing/2014/main" id="{5E501EBF-E789-ED43-7638-CB15D3918D9D}"/>
              </a:ext>
            </a:extLst>
          </p:cNvPr>
          <p:cNvCxnSpPr>
            <a:stCxn id="14" idx="2"/>
            <a:endCxn id="15" idx="6"/>
          </p:cNvCxnSpPr>
          <p:nvPr/>
        </p:nvCxnSpPr>
        <p:spPr>
          <a:xfrm rot="10800000" flipV="1">
            <a:off x="4456935" y="2601797"/>
            <a:ext cx="1482502" cy="2214904"/>
          </a:xfrm>
          <a:prstGeom prst="curvedConnector3">
            <a:avLst>
              <a:gd name="adj1" fmla="val 10576"/>
            </a:avLst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Gráfico 71" descr="Sobre con relleno sólido">
            <a:extLst>
              <a:ext uri="{FF2B5EF4-FFF2-40B4-BE49-F238E27FC236}">
                <a16:creationId xmlns:a16="http://schemas.microsoft.com/office/drawing/2014/main" id="{2186A4B1-EC94-4564-F97D-0D131F7109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7799" y="3749099"/>
            <a:ext cx="518476" cy="518476"/>
          </a:xfrm>
          <a:prstGeom prst="rect">
            <a:avLst/>
          </a:prstGeom>
        </p:spPr>
      </p:pic>
      <p:sp>
        <p:nvSpPr>
          <p:cNvPr id="76" name="Rectángulo 75">
            <a:extLst>
              <a:ext uri="{FF2B5EF4-FFF2-40B4-BE49-F238E27FC236}">
                <a16:creationId xmlns:a16="http://schemas.microsoft.com/office/drawing/2014/main" id="{38AA4A5D-3055-CC7E-ABFB-8FB6E07B4893}"/>
              </a:ext>
            </a:extLst>
          </p:cNvPr>
          <p:cNvSpPr/>
          <p:nvPr/>
        </p:nvSpPr>
        <p:spPr>
          <a:xfrm>
            <a:off x="9614664" y="5736899"/>
            <a:ext cx="1674000" cy="655286"/>
          </a:xfrm>
          <a:prstGeom prst="rect">
            <a:avLst/>
          </a:prstGeom>
          <a:solidFill>
            <a:srgbClr val="2572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Agente que obtiene lista animes</a:t>
            </a: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5B64C951-2A26-2CFD-EC9B-182E5F7EB153}"/>
              </a:ext>
            </a:extLst>
          </p:cNvPr>
          <p:cNvSpPr/>
          <p:nvPr/>
        </p:nvSpPr>
        <p:spPr>
          <a:xfrm>
            <a:off x="9061156" y="1611655"/>
            <a:ext cx="1674000" cy="655286"/>
          </a:xfrm>
          <a:prstGeom prst="rect">
            <a:avLst/>
          </a:prstGeom>
          <a:solidFill>
            <a:srgbClr val="2572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Agente que realiza cálculos</a:t>
            </a: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88ED88BF-ED53-5EDD-DE2D-7AA9CA0261A4}"/>
              </a:ext>
            </a:extLst>
          </p:cNvPr>
          <p:cNvSpPr/>
          <p:nvPr/>
        </p:nvSpPr>
        <p:spPr>
          <a:xfrm>
            <a:off x="329602" y="5272657"/>
            <a:ext cx="1674000" cy="655286"/>
          </a:xfrm>
          <a:prstGeom prst="rect">
            <a:avLst/>
          </a:prstGeom>
          <a:solidFill>
            <a:srgbClr val="2572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Agente que obtiene </a:t>
            </a:r>
            <a:r>
              <a:rPr lang="es-ES" sz="1100" dirty="0" err="1"/>
              <a:t>reviews</a:t>
            </a:r>
            <a:r>
              <a:rPr lang="es-ES" sz="1100" dirty="0"/>
              <a:t> resumidas</a:t>
            </a: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FBB28E5C-6B54-1285-D29C-D6C878B08C68}"/>
              </a:ext>
            </a:extLst>
          </p:cNvPr>
          <p:cNvSpPr/>
          <p:nvPr/>
        </p:nvSpPr>
        <p:spPr>
          <a:xfrm>
            <a:off x="736602" y="1727224"/>
            <a:ext cx="1674000" cy="655286"/>
          </a:xfrm>
          <a:prstGeom prst="rect">
            <a:avLst/>
          </a:prstGeom>
          <a:solidFill>
            <a:srgbClr val="2572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Agente que maneja interfaz</a:t>
            </a:r>
          </a:p>
        </p:txBody>
      </p:sp>
      <p:pic>
        <p:nvPicPr>
          <p:cNvPr id="81" name="Imagen 80" descr="GitHub - jikan-me/jikan-rest: The REST API for Jikan · GitHub">
            <a:extLst>
              <a:ext uri="{FF2B5EF4-FFF2-40B4-BE49-F238E27FC236}">
                <a16:creationId xmlns:a16="http://schemas.microsoft.com/office/drawing/2014/main" id="{CE566B6A-CED2-570F-49F8-EEF30212B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338" y="5736899"/>
            <a:ext cx="1296954" cy="759934"/>
          </a:xfrm>
          <a:prstGeom prst="rect">
            <a:avLst/>
          </a:prstGeom>
        </p:spPr>
      </p:pic>
      <p:cxnSp>
        <p:nvCxnSpPr>
          <p:cNvPr id="85" name="Conector: curvado 84">
            <a:extLst>
              <a:ext uri="{FF2B5EF4-FFF2-40B4-BE49-F238E27FC236}">
                <a16:creationId xmlns:a16="http://schemas.microsoft.com/office/drawing/2014/main" id="{361D7364-BBE2-0B03-7C2E-D8443DECCF2D}"/>
              </a:ext>
            </a:extLst>
          </p:cNvPr>
          <p:cNvCxnSpPr>
            <a:stCxn id="15" idx="5"/>
            <a:endCxn id="81" idx="1"/>
          </p:cNvCxnSpPr>
          <p:nvPr/>
        </p:nvCxnSpPr>
        <p:spPr>
          <a:xfrm rot="16200000" flipH="1">
            <a:off x="4199679" y="5106206"/>
            <a:ext cx="746077" cy="1275241"/>
          </a:xfrm>
          <a:prstGeom prst="curvedConnector2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: curvado 86">
            <a:extLst>
              <a:ext uri="{FF2B5EF4-FFF2-40B4-BE49-F238E27FC236}">
                <a16:creationId xmlns:a16="http://schemas.microsoft.com/office/drawing/2014/main" id="{03D71534-0F1C-3D09-B6DA-AEC5A24BA627}"/>
              </a:ext>
            </a:extLst>
          </p:cNvPr>
          <p:cNvCxnSpPr>
            <a:stCxn id="13" idx="3"/>
            <a:endCxn id="81" idx="3"/>
          </p:cNvCxnSpPr>
          <p:nvPr/>
        </p:nvCxnSpPr>
        <p:spPr>
          <a:xfrm rot="5400000">
            <a:off x="7110386" y="5271166"/>
            <a:ext cx="242606" cy="1448794"/>
          </a:xfrm>
          <a:prstGeom prst="curvedConnector2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Imagen 87" descr="Groq is fast, low cost inference.">
            <a:extLst>
              <a:ext uri="{FF2B5EF4-FFF2-40B4-BE49-F238E27FC236}">
                <a16:creationId xmlns:a16="http://schemas.microsoft.com/office/drawing/2014/main" id="{24CC60C7-3FE9-BC39-9244-9E1B629A8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8584" y="3044624"/>
            <a:ext cx="1064617" cy="558924"/>
          </a:xfrm>
          <a:prstGeom prst="rect">
            <a:avLst/>
          </a:prstGeom>
        </p:spPr>
      </p:pic>
      <p:cxnSp>
        <p:nvCxnSpPr>
          <p:cNvPr id="90" name="Conector: curvado 89">
            <a:extLst>
              <a:ext uri="{FF2B5EF4-FFF2-40B4-BE49-F238E27FC236}">
                <a16:creationId xmlns:a16="http://schemas.microsoft.com/office/drawing/2014/main" id="{AA0D1EA5-5D20-BDE1-843B-10BE1059D628}"/>
              </a:ext>
            </a:extLst>
          </p:cNvPr>
          <p:cNvCxnSpPr>
            <a:stCxn id="12" idx="6"/>
            <a:endCxn id="88" idx="0"/>
          </p:cNvCxnSpPr>
          <p:nvPr/>
        </p:nvCxnSpPr>
        <p:spPr>
          <a:xfrm>
            <a:off x="3959257" y="2601796"/>
            <a:ext cx="631636" cy="442828"/>
          </a:xfrm>
          <a:prstGeom prst="curvedConnector2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: curvado 91">
            <a:extLst>
              <a:ext uri="{FF2B5EF4-FFF2-40B4-BE49-F238E27FC236}">
                <a16:creationId xmlns:a16="http://schemas.microsoft.com/office/drawing/2014/main" id="{52CB688C-BED0-A577-292B-14342BB46268}"/>
              </a:ext>
            </a:extLst>
          </p:cNvPr>
          <p:cNvCxnSpPr>
            <a:stCxn id="15" idx="7"/>
            <a:endCxn id="88" idx="2"/>
          </p:cNvCxnSpPr>
          <p:nvPr/>
        </p:nvCxnSpPr>
        <p:spPr>
          <a:xfrm rot="5400000" flipH="1" flipV="1">
            <a:off x="3933463" y="3605182"/>
            <a:ext cx="659064" cy="655796"/>
          </a:xfrm>
          <a:prstGeom prst="curvedConnector3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4" name="Gráfico 93" descr="Sobre con relleno sólido">
            <a:extLst>
              <a:ext uri="{FF2B5EF4-FFF2-40B4-BE49-F238E27FC236}">
                <a16:creationId xmlns:a16="http://schemas.microsoft.com/office/drawing/2014/main" id="{D7533D1E-E9DC-678E-E9CF-B89F12DE72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79851" y="3972484"/>
            <a:ext cx="518476" cy="518476"/>
          </a:xfrm>
          <a:prstGeom prst="rect">
            <a:avLst/>
          </a:prstGeom>
        </p:spPr>
      </p:pic>
      <p:pic>
        <p:nvPicPr>
          <p:cNvPr id="95" name="Gráfico 94" descr="Sobre con relleno sólido">
            <a:extLst>
              <a:ext uri="{FF2B5EF4-FFF2-40B4-BE49-F238E27FC236}">
                <a16:creationId xmlns:a16="http://schemas.microsoft.com/office/drawing/2014/main" id="{0A9B37D4-068F-B64E-6F4C-E5AC53838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24940" y="1590685"/>
            <a:ext cx="518476" cy="518476"/>
          </a:xfrm>
          <a:prstGeom prst="rect">
            <a:avLst/>
          </a:prstGeom>
        </p:spPr>
      </p:pic>
      <p:pic>
        <p:nvPicPr>
          <p:cNvPr id="96" name="Gráfico 95" descr="Sobre con relleno sólido">
            <a:extLst>
              <a:ext uri="{FF2B5EF4-FFF2-40B4-BE49-F238E27FC236}">
                <a16:creationId xmlns:a16="http://schemas.microsoft.com/office/drawing/2014/main" id="{DEAE6450-D9A7-8410-6C58-E337B516C8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81101" y="3804408"/>
            <a:ext cx="518476" cy="51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9434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BEDEA-4C06-55CB-64EF-8AA90D787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AFE55D-B1DB-0163-B796-2F2C01EB9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18570"/>
          </a:xfrm>
        </p:spPr>
        <p:txBody>
          <a:bodyPr/>
          <a:lstStyle/>
          <a:p>
            <a:r>
              <a:rPr lang="es-ES" dirty="0"/>
              <a:t>Diagrama organización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48594A6E-A69C-ED4A-C216-B760AC84DD3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78632" y="1178351"/>
            <a:ext cx="11001177" cy="0"/>
          </a:xfrm>
          <a:prstGeom prst="line">
            <a:avLst/>
          </a:prstGeom>
          <a:ln w="38100">
            <a:solidFill>
              <a:srgbClr val="2572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9C6B3BA8-C32B-E331-5390-0555AAD774C3}"/>
              </a:ext>
            </a:extLst>
          </p:cNvPr>
          <p:cNvSpPr/>
          <p:nvPr/>
        </p:nvSpPr>
        <p:spPr>
          <a:xfrm>
            <a:off x="678632" y="3106924"/>
            <a:ext cx="3877559" cy="1553835"/>
          </a:xfrm>
          <a:prstGeom prst="ellipse">
            <a:avLst/>
          </a:prstGeom>
          <a:solidFill>
            <a:srgbClr val="004E9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err="1"/>
              <a:t>RecommendationAgent</a:t>
            </a:r>
            <a:endParaRPr lang="es-ES" sz="1600" dirty="0"/>
          </a:p>
          <a:p>
            <a:pPr algn="ctr">
              <a:lnSpc>
                <a:spcPct val="150000"/>
              </a:lnSpc>
            </a:pPr>
            <a:r>
              <a:rPr lang="es-ES" sz="1100" dirty="0"/>
              <a:t>- Registra servicio de recomendar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37579C8-6DF4-FA62-743C-3A4FC6B2CF1C}"/>
              </a:ext>
            </a:extLst>
          </p:cNvPr>
          <p:cNvSpPr txBox="1"/>
          <p:nvPr/>
        </p:nvSpPr>
        <p:spPr>
          <a:xfrm>
            <a:off x="5807680" y="2009828"/>
            <a:ext cx="5546711" cy="12003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ES" b="1" dirty="0" err="1"/>
              <a:t>CyclicBehaviour</a:t>
            </a:r>
            <a:endParaRPr lang="es-E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Esperar REQUEST de </a:t>
            </a:r>
            <a:r>
              <a:rPr lang="es-ES" dirty="0" err="1"/>
              <a:t>UIAgent</a:t>
            </a: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Enviar REQUEST a </a:t>
            </a:r>
            <a:r>
              <a:rPr lang="es-ES" dirty="0" err="1"/>
              <a:t>AnimeDataAgent</a:t>
            </a: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Lanzar los comportamientos correspondientes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C0C6CB07-4E78-E57F-5D39-9512939FB058}"/>
              </a:ext>
            </a:extLst>
          </p:cNvPr>
          <p:cNvCxnSpPr>
            <a:cxnSpLocks/>
            <a:stCxn id="14" idx="6"/>
            <a:endCxn id="3" idx="1"/>
          </p:cNvCxnSpPr>
          <p:nvPr/>
        </p:nvCxnSpPr>
        <p:spPr>
          <a:xfrm flipV="1">
            <a:off x="4556191" y="2609993"/>
            <a:ext cx="1251489" cy="12738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B57AF08D-3A6E-AE74-6DD5-DC2D2BECAF47}"/>
              </a:ext>
            </a:extLst>
          </p:cNvPr>
          <p:cNvSpPr txBox="1"/>
          <p:nvPr/>
        </p:nvSpPr>
        <p:spPr>
          <a:xfrm>
            <a:off x="5807681" y="3599581"/>
            <a:ext cx="5458545" cy="2862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b="1" dirty="0" err="1"/>
              <a:t>SequentialBehaviour</a:t>
            </a:r>
            <a:endParaRPr lang="es-E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/>
              <a:t>SimpleBehaviour</a:t>
            </a:r>
            <a:endParaRPr lang="es-ES" b="1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dirty="0"/>
              <a:t>Esperar INFORM de </a:t>
            </a:r>
            <a:r>
              <a:rPr lang="es-ES" dirty="0" err="1"/>
              <a:t>AnimeDataAgent</a:t>
            </a:r>
            <a:endParaRPr lang="es-E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dirty="0"/>
              <a:t>Realizar cálculos sobre la lista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dirty="0"/>
              <a:t>Repetir hasta analizar todas las listas enviadas por </a:t>
            </a:r>
            <a:r>
              <a:rPr lang="es-ES" dirty="0" err="1"/>
              <a:t>AnimeDataAgent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/>
              <a:t>OneShotBehaviour</a:t>
            </a:r>
            <a:endParaRPr lang="es-ES" b="1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dirty="0"/>
              <a:t>Ordenar la lista por los mejores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dirty="0"/>
              <a:t>Enviar REQUEST con los 5 mejores a </a:t>
            </a:r>
            <a:r>
              <a:rPr lang="es-ES" dirty="0" err="1"/>
              <a:t>ReviewRecoverAgent</a:t>
            </a:r>
            <a:endParaRPr lang="es-ES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724F2B11-B9F9-CFF6-0494-0002E47E6C0F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 flipH="1">
            <a:off x="8536954" y="3210157"/>
            <a:ext cx="44082" cy="3894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6657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703D9-9AEE-6B5D-383D-2268BC140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3E0E0-ED02-BBC7-3682-A86A9F8F8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18570"/>
          </a:xfrm>
        </p:spPr>
        <p:txBody>
          <a:bodyPr/>
          <a:lstStyle/>
          <a:p>
            <a:r>
              <a:rPr lang="es-ES" dirty="0"/>
              <a:t>Diagrama organización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F0671C69-09A8-2622-7A97-32B02F79471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78632" y="1178351"/>
            <a:ext cx="11001177" cy="0"/>
          </a:xfrm>
          <a:prstGeom prst="line">
            <a:avLst/>
          </a:prstGeom>
          <a:ln w="38100">
            <a:solidFill>
              <a:srgbClr val="2572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>
            <a:extLst>
              <a:ext uri="{FF2B5EF4-FFF2-40B4-BE49-F238E27FC236}">
                <a16:creationId xmlns:a16="http://schemas.microsoft.com/office/drawing/2014/main" id="{203210B0-CE24-3167-DC56-2D0C72392771}"/>
              </a:ext>
            </a:extLst>
          </p:cNvPr>
          <p:cNvSpPr/>
          <p:nvPr/>
        </p:nvSpPr>
        <p:spPr>
          <a:xfrm>
            <a:off x="1923066" y="2055040"/>
            <a:ext cx="2036191" cy="1093511"/>
          </a:xfrm>
          <a:prstGeom prst="ellipse">
            <a:avLst/>
          </a:prstGeom>
          <a:solidFill>
            <a:srgbClr val="004E9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s-ES" sz="1600" dirty="0" err="1"/>
              <a:t>UIAgent</a:t>
            </a:r>
            <a:endParaRPr lang="es-ES" sz="1600" dirty="0"/>
          </a:p>
          <a:p>
            <a:pPr algn="ctr"/>
            <a:r>
              <a:rPr lang="es-ES" sz="1100" dirty="0"/>
              <a:t>- Registra servicio de interfaz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F48874D1-E504-F88B-2B95-29D30ADD4959}"/>
              </a:ext>
            </a:extLst>
          </p:cNvPr>
          <p:cNvSpPr/>
          <p:nvPr/>
        </p:nvSpPr>
        <p:spPr>
          <a:xfrm>
            <a:off x="7528204" y="4765213"/>
            <a:ext cx="2921759" cy="1299329"/>
          </a:xfrm>
          <a:prstGeom prst="ellipse">
            <a:avLst/>
          </a:prstGeom>
          <a:solidFill>
            <a:srgbClr val="004E9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err="1"/>
              <a:t>AnimeDataAgent</a:t>
            </a:r>
          </a:p>
          <a:p>
            <a:pPr algn="ctr">
              <a:lnSpc>
                <a:spcPct val="150000"/>
              </a:lnSpc>
            </a:pPr>
            <a:r>
              <a:rPr lang="es-ES" sz="1100"/>
              <a:t>- Registra servicio de animes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681720DC-492D-958D-28B3-ED05ED97130A}"/>
              </a:ext>
            </a:extLst>
          </p:cNvPr>
          <p:cNvSpPr/>
          <p:nvPr/>
        </p:nvSpPr>
        <p:spPr>
          <a:xfrm>
            <a:off x="5939437" y="1824879"/>
            <a:ext cx="3877559" cy="1553835"/>
          </a:xfrm>
          <a:prstGeom prst="ellipse">
            <a:avLst/>
          </a:prstGeom>
          <a:solidFill>
            <a:srgbClr val="004E9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err="1"/>
              <a:t>RecommendationAgent</a:t>
            </a:r>
            <a:endParaRPr lang="es-ES" sz="1600" dirty="0"/>
          </a:p>
          <a:p>
            <a:pPr algn="ctr">
              <a:lnSpc>
                <a:spcPct val="150000"/>
              </a:lnSpc>
            </a:pPr>
            <a:r>
              <a:rPr lang="es-ES" sz="1100" dirty="0"/>
              <a:t>- Registra servicio de recomendar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B9DAD5DE-4265-5A1D-B53E-74A8CE3F2E14}"/>
              </a:ext>
            </a:extLst>
          </p:cNvPr>
          <p:cNvSpPr/>
          <p:nvPr/>
        </p:nvSpPr>
        <p:spPr>
          <a:xfrm>
            <a:off x="893602" y="4033101"/>
            <a:ext cx="3563333" cy="1567199"/>
          </a:xfrm>
          <a:prstGeom prst="ellipse">
            <a:avLst/>
          </a:prstGeom>
          <a:solidFill>
            <a:srgbClr val="004E9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err="1"/>
              <a:t>ReviewRecoverAgent</a:t>
            </a:r>
          </a:p>
          <a:p>
            <a:pPr algn="ctr">
              <a:lnSpc>
                <a:spcPct val="150000"/>
              </a:lnSpc>
            </a:pPr>
            <a:r>
              <a:rPr lang="es-ES" sz="1100"/>
              <a:t>- Registra servicio de </a:t>
            </a:r>
            <a:r>
              <a:rPr lang="es-ES" sz="1100" err="1"/>
              <a:t>reviews</a:t>
            </a:r>
            <a:endParaRPr lang="es-ES" sz="1100"/>
          </a:p>
        </p:txBody>
      </p:sp>
      <p:pic>
        <p:nvPicPr>
          <p:cNvPr id="33" name="Gráfico 32" descr="Sobre con relleno sólido">
            <a:extLst>
              <a:ext uri="{FF2B5EF4-FFF2-40B4-BE49-F238E27FC236}">
                <a16:creationId xmlns:a16="http://schemas.microsoft.com/office/drawing/2014/main" id="{76BE2B82-B722-B01B-6321-5CCCD993D5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7364" y="3148551"/>
            <a:ext cx="518476" cy="518476"/>
          </a:xfrm>
          <a:prstGeom prst="rect">
            <a:avLst/>
          </a:prstGeom>
        </p:spPr>
      </p:pic>
      <p:cxnSp>
        <p:nvCxnSpPr>
          <p:cNvPr id="37" name="Conector: curvado 36">
            <a:extLst>
              <a:ext uri="{FF2B5EF4-FFF2-40B4-BE49-F238E27FC236}">
                <a16:creationId xmlns:a16="http://schemas.microsoft.com/office/drawing/2014/main" id="{EA731E1B-B3C5-72A9-874E-E6689E80F809}"/>
              </a:ext>
            </a:extLst>
          </p:cNvPr>
          <p:cNvCxnSpPr>
            <a:cxnSpLocks/>
            <a:stCxn id="14" idx="3"/>
            <a:endCxn id="13" idx="2"/>
          </p:cNvCxnSpPr>
          <p:nvPr/>
        </p:nvCxnSpPr>
        <p:spPr>
          <a:xfrm rot="16200000" flipH="1">
            <a:off x="5885889" y="3772563"/>
            <a:ext cx="2263718" cy="1020912"/>
          </a:xfrm>
          <a:prstGeom prst="curvedConnector2">
            <a:avLst/>
          </a:prstGeom>
          <a:ln w="28575">
            <a:solidFill>
              <a:srgbClr val="05132D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: curvado 40">
            <a:extLst>
              <a:ext uri="{FF2B5EF4-FFF2-40B4-BE49-F238E27FC236}">
                <a16:creationId xmlns:a16="http://schemas.microsoft.com/office/drawing/2014/main" id="{AD92A8FE-3631-E5D9-9770-5677B1361080}"/>
              </a:ext>
            </a:extLst>
          </p:cNvPr>
          <p:cNvCxnSpPr>
            <a:cxnSpLocks/>
            <a:stCxn id="13" idx="6"/>
            <a:endCxn id="14" idx="6"/>
          </p:cNvCxnSpPr>
          <p:nvPr/>
        </p:nvCxnSpPr>
        <p:spPr>
          <a:xfrm flipH="1" flipV="1">
            <a:off x="9816996" y="2601797"/>
            <a:ext cx="632967" cy="2813081"/>
          </a:xfrm>
          <a:prstGeom prst="curvedConnector3">
            <a:avLst>
              <a:gd name="adj1" fmla="val -36116"/>
            </a:avLst>
          </a:prstGeom>
          <a:ln w="28575">
            <a:solidFill>
              <a:srgbClr val="05132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: curvado 55">
            <a:extLst>
              <a:ext uri="{FF2B5EF4-FFF2-40B4-BE49-F238E27FC236}">
                <a16:creationId xmlns:a16="http://schemas.microsoft.com/office/drawing/2014/main" id="{812E2D3B-778C-97E7-E79E-04EDDCC67130}"/>
              </a:ext>
            </a:extLst>
          </p:cNvPr>
          <p:cNvCxnSpPr>
            <a:stCxn id="12" idx="7"/>
            <a:endCxn id="14" idx="1"/>
          </p:cNvCxnSpPr>
          <p:nvPr/>
        </p:nvCxnSpPr>
        <p:spPr>
          <a:xfrm rot="5400000" flipH="1" flipV="1">
            <a:off x="5002804" y="710693"/>
            <a:ext cx="162748" cy="2846228"/>
          </a:xfrm>
          <a:prstGeom prst="curvedConnector3">
            <a:avLst>
              <a:gd name="adj1" fmla="val 380282"/>
            </a:avLst>
          </a:prstGeom>
          <a:ln w="28575">
            <a:solidFill>
              <a:srgbClr val="05132D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: curvado 59">
            <a:extLst>
              <a:ext uri="{FF2B5EF4-FFF2-40B4-BE49-F238E27FC236}">
                <a16:creationId xmlns:a16="http://schemas.microsoft.com/office/drawing/2014/main" id="{9AF1BE26-146F-15C6-3C2E-0A8975341E90}"/>
              </a:ext>
            </a:extLst>
          </p:cNvPr>
          <p:cNvCxnSpPr>
            <a:stCxn id="15" idx="1"/>
            <a:endCxn id="12" idx="2"/>
          </p:cNvCxnSpPr>
          <p:nvPr/>
        </p:nvCxnSpPr>
        <p:spPr>
          <a:xfrm rot="5400000" flipH="1" flipV="1">
            <a:off x="838845" y="3178391"/>
            <a:ext cx="1660816" cy="507626"/>
          </a:xfrm>
          <a:prstGeom prst="curvedConnector2">
            <a:avLst/>
          </a:prstGeom>
          <a:ln w="28575">
            <a:solidFill>
              <a:srgbClr val="05132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: curvado 66">
            <a:extLst>
              <a:ext uri="{FF2B5EF4-FFF2-40B4-BE49-F238E27FC236}">
                <a16:creationId xmlns:a16="http://schemas.microsoft.com/office/drawing/2014/main" id="{B7AEC350-520F-7A2C-B6CA-9E3D89CCA7C4}"/>
              </a:ext>
            </a:extLst>
          </p:cNvPr>
          <p:cNvCxnSpPr>
            <a:stCxn id="14" idx="2"/>
            <a:endCxn id="15" idx="6"/>
          </p:cNvCxnSpPr>
          <p:nvPr/>
        </p:nvCxnSpPr>
        <p:spPr>
          <a:xfrm rot="10800000" flipV="1">
            <a:off x="4456935" y="2601797"/>
            <a:ext cx="1482502" cy="2214904"/>
          </a:xfrm>
          <a:prstGeom prst="curvedConnector3">
            <a:avLst>
              <a:gd name="adj1" fmla="val 10576"/>
            </a:avLst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Gráfico 71" descr="Sobre con relleno sólido">
            <a:extLst>
              <a:ext uri="{FF2B5EF4-FFF2-40B4-BE49-F238E27FC236}">
                <a16:creationId xmlns:a16="http://schemas.microsoft.com/office/drawing/2014/main" id="{B3531229-B8C7-5C11-1088-645505BB2E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7799" y="3749099"/>
            <a:ext cx="518476" cy="518476"/>
          </a:xfrm>
          <a:prstGeom prst="rect">
            <a:avLst/>
          </a:prstGeom>
        </p:spPr>
      </p:pic>
      <p:sp>
        <p:nvSpPr>
          <p:cNvPr id="76" name="Rectángulo 75">
            <a:extLst>
              <a:ext uri="{FF2B5EF4-FFF2-40B4-BE49-F238E27FC236}">
                <a16:creationId xmlns:a16="http://schemas.microsoft.com/office/drawing/2014/main" id="{6E7D7021-DB34-E433-566E-4A2369DBAEFA}"/>
              </a:ext>
            </a:extLst>
          </p:cNvPr>
          <p:cNvSpPr/>
          <p:nvPr/>
        </p:nvSpPr>
        <p:spPr>
          <a:xfrm>
            <a:off x="9614664" y="5736899"/>
            <a:ext cx="1674000" cy="655286"/>
          </a:xfrm>
          <a:prstGeom prst="rect">
            <a:avLst/>
          </a:prstGeom>
          <a:solidFill>
            <a:srgbClr val="2572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Agente que obtiene lista animes</a:t>
            </a: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C0F0F5E3-B89A-1158-CE4C-AF526DE8FE30}"/>
              </a:ext>
            </a:extLst>
          </p:cNvPr>
          <p:cNvSpPr/>
          <p:nvPr/>
        </p:nvSpPr>
        <p:spPr>
          <a:xfrm>
            <a:off x="9061156" y="1611655"/>
            <a:ext cx="1674000" cy="655286"/>
          </a:xfrm>
          <a:prstGeom prst="rect">
            <a:avLst/>
          </a:prstGeom>
          <a:solidFill>
            <a:srgbClr val="2572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Agente que realiza cálculos</a:t>
            </a: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3B3E03A1-033B-20A6-9CC2-C1AF24A1C456}"/>
              </a:ext>
            </a:extLst>
          </p:cNvPr>
          <p:cNvSpPr/>
          <p:nvPr/>
        </p:nvSpPr>
        <p:spPr>
          <a:xfrm>
            <a:off x="329602" y="5272657"/>
            <a:ext cx="1674000" cy="655286"/>
          </a:xfrm>
          <a:prstGeom prst="rect">
            <a:avLst/>
          </a:prstGeom>
          <a:solidFill>
            <a:srgbClr val="2572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Agente que obtiene </a:t>
            </a:r>
            <a:r>
              <a:rPr lang="es-ES" sz="1100" dirty="0" err="1"/>
              <a:t>reviews</a:t>
            </a:r>
            <a:r>
              <a:rPr lang="es-ES" sz="1100" dirty="0"/>
              <a:t> resumidas</a:t>
            </a: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5BDFE95F-92FD-F7E7-BA9F-B97C77F35364}"/>
              </a:ext>
            </a:extLst>
          </p:cNvPr>
          <p:cNvSpPr/>
          <p:nvPr/>
        </p:nvSpPr>
        <p:spPr>
          <a:xfrm>
            <a:off x="736602" y="1727224"/>
            <a:ext cx="1674000" cy="655286"/>
          </a:xfrm>
          <a:prstGeom prst="rect">
            <a:avLst/>
          </a:prstGeom>
          <a:solidFill>
            <a:srgbClr val="2572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Agente que maneja interfaz</a:t>
            </a:r>
          </a:p>
        </p:txBody>
      </p:sp>
      <p:pic>
        <p:nvPicPr>
          <p:cNvPr id="81" name="Imagen 80" descr="GitHub - jikan-me/jikan-rest: The REST API for Jikan · GitHub">
            <a:extLst>
              <a:ext uri="{FF2B5EF4-FFF2-40B4-BE49-F238E27FC236}">
                <a16:creationId xmlns:a16="http://schemas.microsoft.com/office/drawing/2014/main" id="{EAD71DB1-47F2-C911-08DE-E585BB915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338" y="5736899"/>
            <a:ext cx="1296954" cy="759934"/>
          </a:xfrm>
          <a:prstGeom prst="rect">
            <a:avLst/>
          </a:prstGeom>
        </p:spPr>
      </p:pic>
      <p:cxnSp>
        <p:nvCxnSpPr>
          <p:cNvPr id="85" name="Conector: curvado 84">
            <a:extLst>
              <a:ext uri="{FF2B5EF4-FFF2-40B4-BE49-F238E27FC236}">
                <a16:creationId xmlns:a16="http://schemas.microsoft.com/office/drawing/2014/main" id="{9A389C39-FFF2-D09C-32B8-5E5D54817C6D}"/>
              </a:ext>
            </a:extLst>
          </p:cNvPr>
          <p:cNvCxnSpPr>
            <a:stCxn id="15" idx="5"/>
            <a:endCxn id="81" idx="1"/>
          </p:cNvCxnSpPr>
          <p:nvPr/>
        </p:nvCxnSpPr>
        <p:spPr>
          <a:xfrm rot="16200000" flipH="1">
            <a:off x="4199679" y="5106206"/>
            <a:ext cx="746077" cy="1275241"/>
          </a:xfrm>
          <a:prstGeom prst="curvedConnector2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: curvado 86">
            <a:extLst>
              <a:ext uri="{FF2B5EF4-FFF2-40B4-BE49-F238E27FC236}">
                <a16:creationId xmlns:a16="http://schemas.microsoft.com/office/drawing/2014/main" id="{2AB06A06-0C0D-B0F3-B044-F02A337A5080}"/>
              </a:ext>
            </a:extLst>
          </p:cNvPr>
          <p:cNvCxnSpPr>
            <a:stCxn id="13" idx="3"/>
            <a:endCxn id="81" idx="3"/>
          </p:cNvCxnSpPr>
          <p:nvPr/>
        </p:nvCxnSpPr>
        <p:spPr>
          <a:xfrm rot="5400000">
            <a:off x="7110386" y="5271166"/>
            <a:ext cx="242606" cy="1448794"/>
          </a:xfrm>
          <a:prstGeom prst="curvedConnector2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Imagen 87" descr="Groq is fast, low cost inference.">
            <a:extLst>
              <a:ext uri="{FF2B5EF4-FFF2-40B4-BE49-F238E27FC236}">
                <a16:creationId xmlns:a16="http://schemas.microsoft.com/office/drawing/2014/main" id="{5FBC94B9-D82E-7665-DA17-4CBE7B7452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8584" y="3044624"/>
            <a:ext cx="1064617" cy="558924"/>
          </a:xfrm>
          <a:prstGeom prst="rect">
            <a:avLst/>
          </a:prstGeom>
        </p:spPr>
      </p:pic>
      <p:cxnSp>
        <p:nvCxnSpPr>
          <p:cNvPr id="90" name="Conector: curvado 89">
            <a:extLst>
              <a:ext uri="{FF2B5EF4-FFF2-40B4-BE49-F238E27FC236}">
                <a16:creationId xmlns:a16="http://schemas.microsoft.com/office/drawing/2014/main" id="{E6F6790A-4C8B-6433-4393-C9E46CC40436}"/>
              </a:ext>
            </a:extLst>
          </p:cNvPr>
          <p:cNvCxnSpPr>
            <a:stCxn id="12" idx="6"/>
            <a:endCxn id="88" idx="0"/>
          </p:cNvCxnSpPr>
          <p:nvPr/>
        </p:nvCxnSpPr>
        <p:spPr>
          <a:xfrm>
            <a:off x="3959257" y="2601796"/>
            <a:ext cx="631636" cy="442828"/>
          </a:xfrm>
          <a:prstGeom prst="curvedConnector2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: curvado 91">
            <a:extLst>
              <a:ext uri="{FF2B5EF4-FFF2-40B4-BE49-F238E27FC236}">
                <a16:creationId xmlns:a16="http://schemas.microsoft.com/office/drawing/2014/main" id="{55BE31FE-A018-1F70-9A74-A2B5983EC62A}"/>
              </a:ext>
            </a:extLst>
          </p:cNvPr>
          <p:cNvCxnSpPr>
            <a:stCxn id="15" idx="7"/>
            <a:endCxn id="88" idx="2"/>
          </p:cNvCxnSpPr>
          <p:nvPr/>
        </p:nvCxnSpPr>
        <p:spPr>
          <a:xfrm rot="5400000" flipH="1" flipV="1">
            <a:off x="3933463" y="3605182"/>
            <a:ext cx="659064" cy="655796"/>
          </a:xfrm>
          <a:prstGeom prst="curvedConnector3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4" name="Gráfico 93" descr="Sobre con relleno sólido">
            <a:extLst>
              <a:ext uri="{FF2B5EF4-FFF2-40B4-BE49-F238E27FC236}">
                <a16:creationId xmlns:a16="http://schemas.microsoft.com/office/drawing/2014/main" id="{1374BF27-2F05-EDEE-8D8D-D6006BC746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79851" y="3972484"/>
            <a:ext cx="518476" cy="518476"/>
          </a:xfrm>
          <a:prstGeom prst="rect">
            <a:avLst/>
          </a:prstGeom>
        </p:spPr>
      </p:pic>
      <p:pic>
        <p:nvPicPr>
          <p:cNvPr id="95" name="Gráfico 94" descr="Sobre con relleno sólido">
            <a:extLst>
              <a:ext uri="{FF2B5EF4-FFF2-40B4-BE49-F238E27FC236}">
                <a16:creationId xmlns:a16="http://schemas.microsoft.com/office/drawing/2014/main" id="{A9B992F7-67C1-D36F-E6A9-365D814C02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24940" y="1590685"/>
            <a:ext cx="518476" cy="518476"/>
          </a:xfrm>
          <a:prstGeom prst="rect">
            <a:avLst/>
          </a:prstGeom>
        </p:spPr>
      </p:pic>
      <p:pic>
        <p:nvPicPr>
          <p:cNvPr id="96" name="Gráfico 95" descr="Sobre con relleno sólido">
            <a:extLst>
              <a:ext uri="{FF2B5EF4-FFF2-40B4-BE49-F238E27FC236}">
                <a16:creationId xmlns:a16="http://schemas.microsoft.com/office/drawing/2014/main" id="{0EA33AA4-4341-1821-42B0-CF6C85F5BB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81101" y="3804408"/>
            <a:ext cx="518476" cy="51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1405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3CE49-E8FA-A228-C5FD-D50A66B68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2545E-70F9-A411-E465-A2C57C067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18570"/>
          </a:xfrm>
        </p:spPr>
        <p:txBody>
          <a:bodyPr/>
          <a:lstStyle/>
          <a:p>
            <a:r>
              <a:rPr lang="es-ES" dirty="0"/>
              <a:t>Diagrama organización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2E78FAA3-0B94-B0CE-EBC5-E9FDFAF2B3E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78632" y="1178351"/>
            <a:ext cx="11001177" cy="0"/>
          </a:xfrm>
          <a:prstGeom prst="line">
            <a:avLst/>
          </a:prstGeom>
          <a:ln w="38100">
            <a:solidFill>
              <a:srgbClr val="2572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326782DB-C611-C2D1-04FD-3C475DEED9EF}"/>
              </a:ext>
            </a:extLst>
          </p:cNvPr>
          <p:cNvSpPr/>
          <p:nvPr/>
        </p:nvSpPr>
        <p:spPr>
          <a:xfrm>
            <a:off x="612648" y="3297025"/>
            <a:ext cx="2921759" cy="1299329"/>
          </a:xfrm>
          <a:prstGeom prst="ellipse">
            <a:avLst/>
          </a:prstGeom>
          <a:solidFill>
            <a:srgbClr val="004E9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err="1"/>
              <a:t>AnimeDataAgent</a:t>
            </a:r>
          </a:p>
          <a:p>
            <a:pPr algn="ctr">
              <a:lnSpc>
                <a:spcPct val="150000"/>
              </a:lnSpc>
            </a:pPr>
            <a:r>
              <a:rPr lang="es-ES" sz="1100"/>
              <a:t>- Registra servicio de animes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7C8BF24-F2FD-2B2C-0B88-D5DA94B3FF2B}"/>
              </a:ext>
            </a:extLst>
          </p:cNvPr>
          <p:cNvSpPr txBox="1"/>
          <p:nvPr/>
        </p:nvSpPr>
        <p:spPr>
          <a:xfrm>
            <a:off x="5449462" y="1924987"/>
            <a:ext cx="5458546" cy="12003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b="1" dirty="0" err="1"/>
              <a:t>CyclicBehaviour</a:t>
            </a:r>
            <a:endParaRPr lang="es-E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Esperar REQUEST de </a:t>
            </a:r>
            <a:r>
              <a:rPr lang="es-ES" dirty="0" err="1"/>
              <a:t>RecommendationAgent</a:t>
            </a: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Lanzar los comportamientos correspondientes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22951CD4-F91B-1A7F-E2F2-7E581F4CAC0E}"/>
              </a:ext>
            </a:extLst>
          </p:cNvPr>
          <p:cNvCxnSpPr>
            <a:cxnSpLocks/>
            <a:stCxn id="13" idx="6"/>
            <a:endCxn id="5" idx="1"/>
          </p:cNvCxnSpPr>
          <p:nvPr/>
        </p:nvCxnSpPr>
        <p:spPr>
          <a:xfrm flipV="1">
            <a:off x="3534407" y="2525152"/>
            <a:ext cx="1915055" cy="142153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6BB784A5-B30D-4BC3-4F6A-DD69C1B219A6}"/>
              </a:ext>
            </a:extLst>
          </p:cNvPr>
          <p:cNvSpPr txBox="1"/>
          <p:nvPr/>
        </p:nvSpPr>
        <p:spPr>
          <a:xfrm>
            <a:off x="5449463" y="3891813"/>
            <a:ext cx="5458545" cy="17543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b="1" dirty="0" err="1"/>
              <a:t>SequentialBehaviour</a:t>
            </a:r>
            <a:endParaRPr lang="es-E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8 </a:t>
            </a:r>
            <a:r>
              <a:rPr lang="es-ES" b="1" dirty="0" err="1"/>
              <a:t>OneShotBehaviour</a:t>
            </a:r>
            <a:endParaRPr lang="es-ES" b="1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dirty="0"/>
              <a:t>Lanzar llamadas a API de animes para obtener lista de animes del género pedido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dirty="0"/>
              <a:t>Enviar INFORM con la lista a </a:t>
            </a:r>
            <a:r>
              <a:rPr lang="es-ES" dirty="0" err="1"/>
              <a:t>RecommendationAgent</a:t>
            </a:r>
            <a:endParaRPr lang="es-ES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57F4FD2-B48F-E435-7A3D-A24A22452102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8178735" y="3125316"/>
            <a:ext cx="1" cy="7664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28009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538BE-193E-7471-124B-EA249BAEE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7BCD40-C73F-B74B-C4B1-B6BFF3DA2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18570"/>
          </a:xfrm>
        </p:spPr>
        <p:txBody>
          <a:bodyPr/>
          <a:lstStyle/>
          <a:p>
            <a:r>
              <a:rPr lang="es-ES" dirty="0"/>
              <a:t>Diagrama organización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7CC401D6-626C-EA12-8B3E-E55EFB3FEDC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78632" y="1178351"/>
            <a:ext cx="11001177" cy="0"/>
          </a:xfrm>
          <a:prstGeom prst="line">
            <a:avLst/>
          </a:prstGeom>
          <a:ln w="38100">
            <a:solidFill>
              <a:srgbClr val="2572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>
            <a:extLst>
              <a:ext uri="{FF2B5EF4-FFF2-40B4-BE49-F238E27FC236}">
                <a16:creationId xmlns:a16="http://schemas.microsoft.com/office/drawing/2014/main" id="{25FDDD77-8FE2-0452-4F9D-E003FE95A349}"/>
              </a:ext>
            </a:extLst>
          </p:cNvPr>
          <p:cNvSpPr/>
          <p:nvPr/>
        </p:nvSpPr>
        <p:spPr>
          <a:xfrm>
            <a:off x="1923066" y="2055040"/>
            <a:ext cx="2036191" cy="1093511"/>
          </a:xfrm>
          <a:prstGeom prst="ellipse">
            <a:avLst/>
          </a:prstGeom>
          <a:solidFill>
            <a:srgbClr val="004E9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s-ES" sz="1600" dirty="0" err="1"/>
              <a:t>UIAgent</a:t>
            </a:r>
            <a:endParaRPr lang="es-ES" sz="1600" dirty="0"/>
          </a:p>
          <a:p>
            <a:pPr algn="ctr"/>
            <a:r>
              <a:rPr lang="es-ES" sz="1100" dirty="0"/>
              <a:t>- Registra servicio de interfaz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742F23F2-0980-FCCB-65AA-DB0C045D3E47}"/>
              </a:ext>
            </a:extLst>
          </p:cNvPr>
          <p:cNvSpPr/>
          <p:nvPr/>
        </p:nvSpPr>
        <p:spPr>
          <a:xfrm>
            <a:off x="7528204" y="4765213"/>
            <a:ext cx="2921759" cy="1299329"/>
          </a:xfrm>
          <a:prstGeom prst="ellipse">
            <a:avLst/>
          </a:prstGeom>
          <a:solidFill>
            <a:srgbClr val="004E9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err="1"/>
              <a:t>AnimeDataAgent</a:t>
            </a:r>
          </a:p>
          <a:p>
            <a:pPr algn="ctr">
              <a:lnSpc>
                <a:spcPct val="150000"/>
              </a:lnSpc>
            </a:pPr>
            <a:r>
              <a:rPr lang="es-ES" sz="1100"/>
              <a:t>- Registra servicio de animes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29D21BA6-23E1-F1F8-D7FD-746CA09B148B}"/>
              </a:ext>
            </a:extLst>
          </p:cNvPr>
          <p:cNvSpPr/>
          <p:nvPr/>
        </p:nvSpPr>
        <p:spPr>
          <a:xfrm>
            <a:off x="5939437" y="1824879"/>
            <a:ext cx="3877559" cy="1553835"/>
          </a:xfrm>
          <a:prstGeom prst="ellipse">
            <a:avLst/>
          </a:prstGeom>
          <a:solidFill>
            <a:srgbClr val="004E9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err="1"/>
              <a:t>RecommendationAgent</a:t>
            </a:r>
            <a:endParaRPr lang="es-ES" sz="1600" dirty="0"/>
          </a:p>
          <a:p>
            <a:pPr algn="ctr">
              <a:lnSpc>
                <a:spcPct val="150000"/>
              </a:lnSpc>
            </a:pPr>
            <a:r>
              <a:rPr lang="es-ES" sz="1100" dirty="0"/>
              <a:t>- Registra servicio de recomendar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7BBAF74C-71FE-D0A4-24D3-7B8FC96F8FA9}"/>
              </a:ext>
            </a:extLst>
          </p:cNvPr>
          <p:cNvSpPr/>
          <p:nvPr/>
        </p:nvSpPr>
        <p:spPr>
          <a:xfrm>
            <a:off x="893602" y="4033101"/>
            <a:ext cx="3563333" cy="1567199"/>
          </a:xfrm>
          <a:prstGeom prst="ellipse">
            <a:avLst/>
          </a:prstGeom>
          <a:solidFill>
            <a:srgbClr val="004E9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err="1"/>
              <a:t>ReviewRecoverAgent</a:t>
            </a:r>
          </a:p>
          <a:p>
            <a:pPr algn="ctr">
              <a:lnSpc>
                <a:spcPct val="150000"/>
              </a:lnSpc>
            </a:pPr>
            <a:r>
              <a:rPr lang="es-ES" sz="1100"/>
              <a:t>- Registra servicio de </a:t>
            </a:r>
            <a:r>
              <a:rPr lang="es-ES" sz="1100" err="1"/>
              <a:t>reviews</a:t>
            </a:r>
            <a:endParaRPr lang="es-ES" sz="1100"/>
          </a:p>
        </p:txBody>
      </p:sp>
      <p:pic>
        <p:nvPicPr>
          <p:cNvPr id="33" name="Gráfico 32" descr="Sobre con relleno sólido">
            <a:extLst>
              <a:ext uri="{FF2B5EF4-FFF2-40B4-BE49-F238E27FC236}">
                <a16:creationId xmlns:a16="http://schemas.microsoft.com/office/drawing/2014/main" id="{C4DDCA93-6FFF-866B-C5C3-A98DA3592D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7364" y="3148551"/>
            <a:ext cx="518476" cy="518476"/>
          </a:xfrm>
          <a:prstGeom prst="rect">
            <a:avLst/>
          </a:prstGeom>
        </p:spPr>
      </p:pic>
      <p:cxnSp>
        <p:nvCxnSpPr>
          <p:cNvPr id="37" name="Conector: curvado 36">
            <a:extLst>
              <a:ext uri="{FF2B5EF4-FFF2-40B4-BE49-F238E27FC236}">
                <a16:creationId xmlns:a16="http://schemas.microsoft.com/office/drawing/2014/main" id="{CB96BB49-7472-EE0E-A4D1-FA62F3D2A2B1}"/>
              </a:ext>
            </a:extLst>
          </p:cNvPr>
          <p:cNvCxnSpPr>
            <a:cxnSpLocks/>
            <a:stCxn id="14" idx="3"/>
            <a:endCxn id="13" idx="2"/>
          </p:cNvCxnSpPr>
          <p:nvPr/>
        </p:nvCxnSpPr>
        <p:spPr>
          <a:xfrm rot="16200000" flipH="1">
            <a:off x="5885889" y="3772563"/>
            <a:ext cx="2263718" cy="1020912"/>
          </a:xfrm>
          <a:prstGeom prst="curvedConnector2">
            <a:avLst/>
          </a:prstGeom>
          <a:ln w="28575">
            <a:solidFill>
              <a:srgbClr val="05132D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: curvado 40">
            <a:extLst>
              <a:ext uri="{FF2B5EF4-FFF2-40B4-BE49-F238E27FC236}">
                <a16:creationId xmlns:a16="http://schemas.microsoft.com/office/drawing/2014/main" id="{A88EE683-45D1-76FD-DEB0-F79B1583B296}"/>
              </a:ext>
            </a:extLst>
          </p:cNvPr>
          <p:cNvCxnSpPr>
            <a:cxnSpLocks/>
            <a:stCxn id="13" idx="6"/>
            <a:endCxn id="14" idx="6"/>
          </p:cNvCxnSpPr>
          <p:nvPr/>
        </p:nvCxnSpPr>
        <p:spPr>
          <a:xfrm flipH="1" flipV="1">
            <a:off x="9816996" y="2601797"/>
            <a:ext cx="632967" cy="2813081"/>
          </a:xfrm>
          <a:prstGeom prst="curvedConnector3">
            <a:avLst>
              <a:gd name="adj1" fmla="val -36116"/>
            </a:avLst>
          </a:prstGeom>
          <a:ln w="28575">
            <a:solidFill>
              <a:srgbClr val="05132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: curvado 55">
            <a:extLst>
              <a:ext uri="{FF2B5EF4-FFF2-40B4-BE49-F238E27FC236}">
                <a16:creationId xmlns:a16="http://schemas.microsoft.com/office/drawing/2014/main" id="{37C32247-A64F-D08D-CE65-B723276794D4}"/>
              </a:ext>
            </a:extLst>
          </p:cNvPr>
          <p:cNvCxnSpPr>
            <a:stCxn id="12" idx="7"/>
            <a:endCxn id="14" idx="1"/>
          </p:cNvCxnSpPr>
          <p:nvPr/>
        </p:nvCxnSpPr>
        <p:spPr>
          <a:xfrm rot="5400000" flipH="1" flipV="1">
            <a:off x="5002804" y="710693"/>
            <a:ext cx="162748" cy="2846228"/>
          </a:xfrm>
          <a:prstGeom prst="curvedConnector3">
            <a:avLst>
              <a:gd name="adj1" fmla="val 380282"/>
            </a:avLst>
          </a:prstGeom>
          <a:ln w="28575">
            <a:solidFill>
              <a:srgbClr val="05132D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: curvado 59">
            <a:extLst>
              <a:ext uri="{FF2B5EF4-FFF2-40B4-BE49-F238E27FC236}">
                <a16:creationId xmlns:a16="http://schemas.microsoft.com/office/drawing/2014/main" id="{403F124D-CCA0-5C9B-AA10-3122D436622C}"/>
              </a:ext>
            </a:extLst>
          </p:cNvPr>
          <p:cNvCxnSpPr>
            <a:stCxn id="15" idx="1"/>
            <a:endCxn id="12" idx="2"/>
          </p:cNvCxnSpPr>
          <p:nvPr/>
        </p:nvCxnSpPr>
        <p:spPr>
          <a:xfrm rot="5400000" flipH="1" flipV="1">
            <a:off x="838845" y="3178391"/>
            <a:ext cx="1660816" cy="507626"/>
          </a:xfrm>
          <a:prstGeom prst="curvedConnector2">
            <a:avLst/>
          </a:prstGeom>
          <a:ln w="28575">
            <a:solidFill>
              <a:srgbClr val="05132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: curvado 66">
            <a:extLst>
              <a:ext uri="{FF2B5EF4-FFF2-40B4-BE49-F238E27FC236}">
                <a16:creationId xmlns:a16="http://schemas.microsoft.com/office/drawing/2014/main" id="{12D2779D-C9A6-B276-A396-133A985AA005}"/>
              </a:ext>
            </a:extLst>
          </p:cNvPr>
          <p:cNvCxnSpPr>
            <a:stCxn id="14" idx="2"/>
            <a:endCxn id="15" idx="6"/>
          </p:cNvCxnSpPr>
          <p:nvPr/>
        </p:nvCxnSpPr>
        <p:spPr>
          <a:xfrm rot="10800000" flipV="1">
            <a:off x="4456935" y="2601797"/>
            <a:ext cx="1482502" cy="2214904"/>
          </a:xfrm>
          <a:prstGeom prst="curvedConnector3">
            <a:avLst>
              <a:gd name="adj1" fmla="val 10576"/>
            </a:avLst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Gráfico 71" descr="Sobre con relleno sólido">
            <a:extLst>
              <a:ext uri="{FF2B5EF4-FFF2-40B4-BE49-F238E27FC236}">
                <a16:creationId xmlns:a16="http://schemas.microsoft.com/office/drawing/2014/main" id="{DC7E0D37-473D-5CD1-3984-DD60981B25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7799" y="3749099"/>
            <a:ext cx="518476" cy="518476"/>
          </a:xfrm>
          <a:prstGeom prst="rect">
            <a:avLst/>
          </a:prstGeom>
        </p:spPr>
      </p:pic>
      <p:sp>
        <p:nvSpPr>
          <p:cNvPr id="76" name="Rectángulo 75">
            <a:extLst>
              <a:ext uri="{FF2B5EF4-FFF2-40B4-BE49-F238E27FC236}">
                <a16:creationId xmlns:a16="http://schemas.microsoft.com/office/drawing/2014/main" id="{885611DF-6070-25F7-3369-CBE74FA6D43E}"/>
              </a:ext>
            </a:extLst>
          </p:cNvPr>
          <p:cNvSpPr/>
          <p:nvPr/>
        </p:nvSpPr>
        <p:spPr>
          <a:xfrm>
            <a:off x="9614664" y="5736899"/>
            <a:ext cx="1674000" cy="655286"/>
          </a:xfrm>
          <a:prstGeom prst="rect">
            <a:avLst/>
          </a:prstGeom>
          <a:solidFill>
            <a:srgbClr val="2572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Agente que obtiene lista animes</a:t>
            </a: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66EE0FD3-2F62-2AB1-B503-174BEC3BA4B8}"/>
              </a:ext>
            </a:extLst>
          </p:cNvPr>
          <p:cNvSpPr/>
          <p:nvPr/>
        </p:nvSpPr>
        <p:spPr>
          <a:xfrm>
            <a:off x="9061156" y="1611655"/>
            <a:ext cx="1674000" cy="655286"/>
          </a:xfrm>
          <a:prstGeom prst="rect">
            <a:avLst/>
          </a:prstGeom>
          <a:solidFill>
            <a:srgbClr val="2572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Agente que realiza cálculos</a:t>
            </a: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9533428C-3366-51AA-5314-0E54259AE40E}"/>
              </a:ext>
            </a:extLst>
          </p:cNvPr>
          <p:cNvSpPr/>
          <p:nvPr/>
        </p:nvSpPr>
        <p:spPr>
          <a:xfrm>
            <a:off x="329602" y="5272657"/>
            <a:ext cx="1674000" cy="655286"/>
          </a:xfrm>
          <a:prstGeom prst="rect">
            <a:avLst/>
          </a:prstGeom>
          <a:solidFill>
            <a:srgbClr val="2572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Agente que obtiene </a:t>
            </a:r>
            <a:r>
              <a:rPr lang="es-ES" sz="1100" dirty="0" err="1"/>
              <a:t>reviews</a:t>
            </a:r>
            <a:r>
              <a:rPr lang="es-ES" sz="1100" dirty="0"/>
              <a:t> resumidas</a:t>
            </a: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A1B31F2D-48E9-4F8A-4548-3F0F686B85C4}"/>
              </a:ext>
            </a:extLst>
          </p:cNvPr>
          <p:cNvSpPr/>
          <p:nvPr/>
        </p:nvSpPr>
        <p:spPr>
          <a:xfrm>
            <a:off x="736602" y="1727224"/>
            <a:ext cx="1674000" cy="655286"/>
          </a:xfrm>
          <a:prstGeom prst="rect">
            <a:avLst/>
          </a:prstGeom>
          <a:solidFill>
            <a:srgbClr val="2572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Agente que maneja interfaz</a:t>
            </a:r>
          </a:p>
        </p:txBody>
      </p:sp>
      <p:pic>
        <p:nvPicPr>
          <p:cNvPr id="81" name="Imagen 80" descr="GitHub - jikan-me/jikan-rest: The REST API for Jikan · GitHub">
            <a:extLst>
              <a:ext uri="{FF2B5EF4-FFF2-40B4-BE49-F238E27FC236}">
                <a16:creationId xmlns:a16="http://schemas.microsoft.com/office/drawing/2014/main" id="{28A8650C-0637-FDF1-6D64-B2C586BDF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338" y="5736899"/>
            <a:ext cx="1296954" cy="759934"/>
          </a:xfrm>
          <a:prstGeom prst="rect">
            <a:avLst/>
          </a:prstGeom>
        </p:spPr>
      </p:pic>
      <p:cxnSp>
        <p:nvCxnSpPr>
          <p:cNvPr id="85" name="Conector: curvado 84">
            <a:extLst>
              <a:ext uri="{FF2B5EF4-FFF2-40B4-BE49-F238E27FC236}">
                <a16:creationId xmlns:a16="http://schemas.microsoft.com/office/drawing/2014/main" id="{A8B25082-ECF8-48EF-FFD3-64EB23853DC7}"/>
              </a:ext>
            </a:extLst>
          </p:cNvPr>
          <p:cNvCxnSpPr>
            <a:stCxn id="15" idx="5"/>
            <a:endCxn id="81" idx="1"/>
          </p:cNvCxnSpPr>
          <p:nvPr/>
        </p:nvCxnSpPr>
        <p:spPr>
          <a:xfrm rot="16200000" flipH="1">
            <a:off x="4199679" y="5106206"/>
            <a:ext cx="746077" cy="1275241"/>
          </a:xfrm>
          <a:prstGeom prst="curvedConnector2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: curvado 86">
            <a:extLst>
              <a:ext uri="{FF2B5EF4-FFF2-40B4-BE49-F238E27FC236}">
                <a16:creationId xmlns:a16="http://schemas.microsoft.com/office/drawing/2014/main" id="{2B5916A8-D0AD-D979-5E49-570FA74394B7}"/>
              </a:ext>
            </a:extLst>
          </p:cNvPr>
          <p:cNvCxnSpPr>
            <a:stCxn id="13" idx="3"/>
            <a:endCxn id="81" idx="3"/>
          </p:cNvCxnSpPr>
          <p:nvPr/>
        </p:nvCxnSpPr>
        <p:spPr>
          <a:xfrm rot="5400000">
            <a:off x="7110386" y="5271166"/>
            <a:ext cx="242606" cy="1448794"/>
          </a:xfrm>
          <a:prstGeom prst="curvedConnector2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Imagen 87" descr="Groq is fast, low cost inference.">
            <a:extLst>
              <a:ext uri="{FF2B5EF4-FFF2-40B4-BE49-F238E27FC236}">
                <a16:creationId xmlns:a16="http://schemas.microsoft.com/office/drawing/2014/main" id="{41AC4B4B-AC12-86D5-12AA-46086A0E8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8584" y="3044624"/>
            <a:ext cx="1064617" cy="558924"/>
          </a:xfrm>
          <a:prstGeom prst="rect">
            <a:avLst/>
          </a:prstGeom>
        </p:spPr>
      </p:pic>
      <p:cxnSp>
        <p:nvCxnSpPr>
          <p:cNvPr id="90" name="Conector: curvado 89">
            <a:extLst>
              <a:ext uri="{FF2B5EF4-FFF2-40B4-BE49-F238E27FC236}">
                <a16:creationId xmlns:a16="http://schemas.microsoft.com/office/drawing/2014/main" id="{F124FF8A-7958-1093-6A0C-9A6ECE5271FB}"/>
              </a:ext>
            </a:extLst>
          </p:cNvPr>
          <p:cNvCxnSpPr>
            <a:stCxn id="12" idx="6"/>
            <a:endCxn id="88" idx="0"/>
          </p:cNvCxnSpPr>
          <p:nvPr/>
        </p:nvCxnSpPr>
        <p:spPr>
          <a:xfrm>
            <a:off x="3959257" y="2601796"/>
            <a:ext cx="631636" cy="442828"/>
          </a:xfrm>
          <a:prstGeom prst="curvedConnector2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: curvado 91">
            <a:extLst>
              <a:ext uri="{FF2B5EF4-FFF2-40B4-BE49-F238E27FC236}">
                <a16:creationId xmlns:a16="http://schemas.microsoft.com/office/drawing/2014/main" id="{1FA26C5B-3090-2972-EB8E-1F0228D6DA10}"/>
              </a:ext>
            </a:extLst>
          </p:cNvPr>
          <p:cNvCxnSpPr>
            <a:stCxn id="15" idx="7"/>
            <a:endCxn id="88" idx="2"/>
          </p:cNvCxnSpPr>
          <p:nvPr/>
        </p:nvCxnSpPr>
        <p:spPr>
          <a:xfrm rot="5400000" flipH="1" flipV="1">
            <a:off x="3933463" y="3605182"/>
            <a:ext cx="659064" cy="655796"/>
          </a:xfrm>
          <a:prstGeom prst="curvedConnector3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4" name="Gráfico 93" descr="Sobre con relleno sólido">
            <a:extLst>
              <a:ext uri="{FF2B5EF4-FFF2-40B4-BE49-F238E27FC236}">
                <a16:creationId xmlns:a16="http://schemas.microsoft.com/office/drawing/2014/main" id="{547CAA38-2598-0F9B-0E56-A4C46EFFAC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79851" y="3972484"/>
            <a:ext cx="518476" cy="518476"/>
          </a:xfrm>
          <a:prstGeom prst="rect">
            <a:avLst/>
          </a:prstGeom>
        </p:spPr>
      </p:pic>
      <p:pic>
        <p:nvPicPr>
          <p:cNvPr id="95" name="Gráfico 94" descr="Sobre con relleno sólido">
            <a:extLst>
              <a:ext uri="{FF2B5EF4-FFF2-40B4-BE49-F238E27FC236}">
                <a16:creationId xmlns:a16="http://schemas.microsoft.com/office/drawing/2014/main" id="{7D5DE4FF-9930-BB4B-117A-9C35267CF6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24940" y="1590685"/>
            <a:ext cx="518476" cy="518476"/>
          </a:xfrm>
          <a:prstGeom prst="rect">
            <a:avLst/>
          </a:prstGeom>
        </p:spPr>
      </p:pic>
      <p:pic>
        <p:nvPicPr>
          <p:cNvPr id="96" name="Gráfico 95" descr="Sobre con relleno sólido">
            <a:extLst>
              <a:ext uri="{FF2B5EF4-FFF2-40B4-BE49-F238E27FC236}">
                <a16:creationId xmlns:a16="http://schemas.microsoft.com/office/drawing/2014/main" id="{770EEF35-90FC-92F8-9102-82625BBFED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81101" y="3804408"/>
            <a:ext cx="518476" cy="51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690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64314-FD64-1A9B-B83C-BFCC69982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C0F535-AAD4-0E8C-B04F-125F5DE6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18570"/>
          </a:xfrm>
        </p:spPr>
        <p:txBody>
          <a:bodyPr/>
          <a:lstStyle/>
          <a:p>
            <a:r>
              <a:rPr lang="es-ES" dirty="0"/>
              <a:t>Diagrama organización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A95AB4F-2385-1F56-EBA4-4E61BF9801B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78632" y="1178351"/>
            <a:ext cx="11001177" cy="0"/>
          </a:xfrm>
          <a:prstGeom prst="line">
            <a:avLst/>
          </a:prstGeom>
          <a:ln w="38100">
            <a:solidFill>
              <a:srgbClr val="2572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6C76A099-DC37-68F7-6A81-2530B5888D8B}"/>
              </a:ext>
            </a:extLst>
          </p:cNvPr>
          <p:cNvSpPr/>
          <p:nvPr/>
        </p:nvSpPr>
        <p:spPr>
          <a:xfrm>
            <a:off x="612648" y="3062140"/>
            <a:ext cx="3563333" cy="1567199"/>
          </a:xfrm>
          <a:prstGeom prst="ellipse">
            <a:avLst/>
          </a:prstGeom>
          <a:solidFill>
            <a:srgbClr val="004E9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err="1"/>
              <a:t>ReviewRecoverAgent</a:t>
            </a:r>
          </a:p>
          <a:p>
            <a:pPr algn="ctr">
              <a:lnSpc>
                <a:spcPct val="150000"/>
              </a:lnSpc>
            </a:pPr>
            <a:r>
              <a:rPr lang="es-ES" sz="1100"/>
              <a:t>- Registra servicio de </a:t>
            </a:r>
            <a:r>
              <a:rPr lang="es-ES" sz="1100" err="1"/>
              <a:t>reviews</a:t>
            </a:r>
            <a:endParaRPr lang="es-ES" sz="110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8357C44-2E19-17D9-26A3-A534AB88D34D}"/>
              </a:ext>
            </a:extLst>
          </p:cNvPr>
          <p:cNvSpPr txBox="1"/>
          <p:nvPr/>
        </p:nvSpPr>
        <p:spPr>
          <a:xfrm>
            <a:off x="5609718" y="1623329"/>
            <a:ext cx="5458546" cy="12003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b="1" dirty="0" err="1"/>
              <a:t>CyclicBehaviour</a:t>
            </a:r>
            <a:endParaRPr lang="es-E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Esperar REQUEST de </a:t>
            </a:r>
            <a:r>
              <a:rPr lang="es-ES" dirty="0" err="1"/>
              <a:t>RecommendationAgent</a:t>
            </a: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Lanzar los comportamientos correspondientes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EE5DE53-3A2B-786A-607C-D0988CD6075B}"/>
              </a:ext>
            </a:extLst>
          </p:cNvPr>
          <p:cNvCxnSpPr>
            <a:cxnSpLocks/>
            <a:stCxn id="15" idx="6"/>
            <a:endCxn id="9" idx="1"/>
          </p:cNvCxnSpPr>
          <p:nvPr/>
        </p:nvCxnSpPr>
        <p:spPr>
          <a:xfrm flipV="1">
            <a:off x="4175981" y="2223494"/>
            <a:ext cx="1433737" cy="16222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250626C-C886-0106-6E21-FC0D99B67AF3}"/>
              </a:ext>
            </a:extLst>
          </p:cNvPr>
          <p:cNvSpPr txBox="1"/>
          <p:nvPr/>
        </p:nvSpPr>
        <p:spPr>
          <a:xfrm>
            <a:off x="5609719" y="3590155"/>
            <a:ext cx="5458545" cy="258532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b="1" dirty="0" err="1"/>
              <a:t>SequentialBehaviour</a:t>
            </a:r>
            <a:endParaRPr lang="es-E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5 </a:t>
            </a:r>
            <a:r>
              <a:rPr lang="es-ES" b="1" dirty="0" err="1"/>
              <a:t>OneShotBehaviour</a:t>
            </a:r>
            <a:endParaRPr lang="es-ES" b="1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dirty="0"/>
              <a:t>Lanzar llamada a API de animes para obtener </a:t>
            </a:r>
            <a:r>
              <a:rPr lang="es-ES" dirty="0" err="1"/>
              <a:t>reviews</a:t>
            </a:r>
            <a:r>
              <a:rPr lang="es-ES" dirty="0"/>
              <a:t> del anime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dirty="0"/>
              <a:t>Lanzar llamada a API </a:t>
            </a:r>
            <a:r>
              <a:rPr lang="es-ES"/>
              <a:t>del LLM</a:t>
            </a:r>
            <a:r>
              <a:rPr lang="es-ES" dirty="0"/>
              <a:t> para hacer resumen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/>
              <a:t>OneShotBehaviour</a:t>
            </a:r>
            <a:endParaRPr lang="es-ES" b="1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dirty="0"/>
              <a:t>Enviar INFORM </a:t>
            </a:r>
            <a:r>
              <a:rPr lang="es-ES"/>
              <a:t>a </a:t>
            </a:r>
            <a:r>
              <a:rPr lang="es-ES" err="1"/>
              <a:t>UIAgent</a:t>
            </a:r>
            <a:r>
              <a:rPr lang="es-ES"/>
              <a:t> </a:t>
            </a:r>
            <a:r>
              <a:rPr lang="es-ES" dirty="0"/>
              <a:t>de los 5 animes con sus </a:t>
            </a:r>
            <a:r>
              <a:rPr lang="es-ES" dirty="0" err="1"/>
              <a:t>reviews</a:t>
            </a:r>
            <a:r>
              <a:rPr lang="es-ES" dirty="0"/>
              <a:t> resumidas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5A5095EE-3458-CF0E-0CD4-ED76ED9A359C}"/>
              </a:ext>
            </a:extLst>
          </p:cNvPr>
          <p:cNvCxnSpPr>
            <a:cxnSpLocks/>
            <a:stCxn id="9" idx="2"/>
            <a:endCxn id="16" idx="0"/>
          </p:cNvCxnSpPr>
          <p:nvPr/>
        </p:nvCxnSpPr>
        <p:spPr>
          <a:xfrm>
            <a:off x="8338991" y="2823658"/>
            <a:ext cx="1" cy="7664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5240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39CD0-93A3-376D-1D00-DD134AB0F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29604-8806-F293-B1CB-5BBEB5DA9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18570"/>
          </a:xfrm>
        </p:spPr>
        <p:txBody>
          <a:bodyPr/>
          <a:lstStyle/>
          <a:p>
            <a:r>
              <a:rPr lang="es-ES"/>
              <a:t>Compresión Semántica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D1D7CEE-0D98-F7BC-648A-9B64F8520BA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78632" y="1178351"/>
            <a:ext cx="11001177" cy="0"/>
          </a:xfrm>
          <a:prstGeom prst="line">
            <a:avLst/>
          </a:prstGeom>
          <a:ln w="38100">
            <a:solidFill>
              <a:srgbClr val="2572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Marcador de contenido 2" descr="Meta Releases Open Source Llama 3.3 70B which outperforms GPT-4o – AIworks">
            <a:extLst>
              <a:ext uri="{FF2B5EF4-FFF2-40B4-BE49-F238E27FC236}">
                <a16:creationId xmlns:a16="http://schemas.microsoft.com/office/drawing/2014/main" id="{A08ED475-96B7-5D8F-98B5-01A640E578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7635" b="-238"/>
          <a:stretch>
            <a:fillRect/>
          </a:stretch>
        </p:blipFill>
        <p:spPr>
          <a:xfrm>
            <a:off x="612804" y="1477666"/>
            <a:ext cx="4053633" cy="2113273"/>
          </a:xfrm>
          <a:prstGeom prst="rect">
            <a:avLst/>
          </a:prstGeom>
        </p:spPr>
      </p:pic>
      <p:pic>
        <p:nvPicPr>
          <p:cNvPr id="4" name="Imagen 3" descr="Logotipo">
            <a:extLst>
              <a:ext uri="{FF2B5EF4-FFF2-40B4-BE49-F238E27FC236}">
                <a16:creationId xmlns:a16="http://schemas.microsoft.com/office/drawing/2014/main" id="{C9D7E6B7-E0F1-FE9A-1721-AE8164362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967" y="1478096"/>
            <a:ext cx="3244285" cy="2111567"/>
          </a:xfrm>
          <a:prstGeom prst="rect">
            <a:avLst/>
          </a:prstGeom>
        </p:spPr>
      </p:pic>
      <p:pic>
        <p:nvPicPr>
          <p:cNvPr id="5" name="Imagen 4" descr="Flecha regular - Icono gratis PNG, SVG">
            <a:extLst>
              <a:ext uri="{FF2B5EF4-FFF2-40B4-BE49-F238E27FC236}">
                <a16:creationId xmlns:a16="http://schemas.microsoft.com/office/drawing/2014/main" id="{50DDC38C-DAB2-C67A-8BBF-2BCCFC938D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545" y="1901327"/>
            <a:ext cx="1265105" cy="1255924"/>
          </a:xfrm>
          <a:prstGeom prst="rect">
            <a:avLst/>
          </a:prstGeom>
        </p:spPr>
      </p:pic>
      <p:pic>
        <p:nvPicPr>
          <p:cNvPr id="6" name="Imagen 5" descr="Groq is fast, low cost inference.">
            <a:extLst>
              <a:ext uri="{FF2B5EF4-FFF2-40B4-BE49-F238E27FC236}">
                <a16:creationId xmlns:a16="http://schemas.microsoft.com/office/drawing/2014/main" id="{01E3A155-957E-A6D4-81BC-72533B81F0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4425" y="5426402"/>
            <a:ext cx="2339248" cy="1284106"/>
          </a:xfrm>
          <a:prstGeom prst="rect">
            <a:avLst/>
          </a:prstGeom>
        </p:spPr>
      </p:pic>
      <p:pic>
        <p:nvPicPr>
          <p:cNvPr id="7" name="Imagen 6" descr="Flecha regular - Icono gratis PNG, SVG">
            <a:extLst>
              <a:ext uri="{FF2B5EF4-FFF2-40B4-BE49-F238E27FC236}">
                <a16:creationId xmlns:a16="http://schemas.microsoft.com/office/drawing/2014/main" id="{D7DFC1C7-506B-9A95-2923-686476902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06905" y="3930267"/>
            <a:ext cx="1265105" cy="1255924"/>
          </a:xfrm>
          <a:prstGeom prst="rect">
            <a:avLst/>
          </a:prstGeom>
        </p:spPr>
      </p:pic>
      <p:pic>
        <p:nvPicPr>
          <p:cNvPr id="8" name="Imagen 7" descr="Texto, Carta">
            <a:extLst>
              <a:ext uri="{FF2B5EF4-FFF2-40B4-BE49-F238E27FC236}">
                <a16:creationId xmlns:a16="http://schemas.microsoft.com/office/drawing/2014/main" id="{10A7CCCC-C8DC-5EE4-B1E8-9013100108C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982" r="-1545" b="2439"/>
          <a:stretch>
            <a:fillRect/>
          </a:stretch>
        </p:blipFill>
        <p:spPr>
          <a:xfrm>
            <a:off x="7180300" y="3432804"/>
            <a:ext cx="4834092" cy="2874156"/>
          </a:xfrm>
          <a:prstGeom prst="rect">
            <a:avLst/>
          </a:prstGeom>
        </p:spPr>
      </p:pic>
      <p:pic>
        <p:nvPicPr>
          <p:cNvPr id="9" name="Imagen 8" descr="TXT File 3D Icon - Download PNG, glTF, FBX for Files &amp; Folders | IconScout">
            <a:extLst>
              <a:ext uri="{FF2B5EF4-FFF2-40B4-BE49-F238E27FC236}">
                <a16:creationId xmlns:a16="http://schemas.microsoft.com/office/drawing/2014/main" id="{24859C04-C3BC-9B61-897D-75EC0A2773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3240" y="3933138"/>
            <a:ext cx="1384339" cy="1277727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0434ED44-D782-4135-A013-7048B1602E3E}"/>
              </a:ext>
            </a:extLst>
          </p:cNvPr>
          <p:cNvSpPr txBox="1"/>
          <p:nvPr/>
        </p:nvSpPr>
        <p:spPr>
          <a:xfrm>
            <a:off x="4388263" y="4252970"/>
            <a:ext cx="179229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Instrucciones</a:t>
            </a:r>
          </a:p>
          <a:p>
            <a:r>
              <a:rPr lang="es-ES" b="1" err="1"/>
              <a:t>Prompt</a:t>
            </a:r>
          </a:p>
        </p:txBody>
      </p:sp>
    </p:spTree>
    <p:extLst>
      <p:ext uri="{BB962C8B-B14F-4D97-AF65-F5344CB8AC3E}">
        <p14:creationId xmlns:p14="http://schemas.microsoft.com/office/powerpoint/2010/main" val="1892267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1CD56-CF01-62A9-429C-8D9F58E34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5C01E9-D11E-DF4D-7B35-66677F056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18570"/>
          </a:xfrm>
        </p:spPr>
        <p:txBody>
          <a:bodyPr/>
          <a:lstStyle/>
          <a:p>
            <a:r>
              <a:rPr lang="es-ES" err="1"/>
              <a:t>GroqService</a:t>
            </a:r>
            <a:r>
              <a:rPr lang="es-ES"/>
              <a:t> y </a:t>
            </a:r>
            <a:r>
              <a:rPr lang="es-ES" err="1"/>
              <a:t>UIAgent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9E947F0-0AA5-A123-88A6-B58757922EB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78632" y="1178351"/>
            <a:ext cx="11001177" cy="0"/>
          </a:xfrm>
          <a:prstGeom prst="line">
            <a:avLst/>
          </a:prstGeom>
          <a:ln w="38100">
            <a:solidFill>
              <a:srgbClr val="2572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n 13" descr="Escudo de seguridad - Iconos gratis de seguridad">
            <a:extLst>
              <a:ext uri="{FF2B5EF4-FFF2-40B4-BE49-F238E27FC236}">
                <a16:creationId xmlns:a16="http://schemas.microsoft.com/office/drawing/2014/main" id="{037A029C-46A6-9014-4D5F-0EBF9C202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84" y="2121321"/>
            <a:ext cx="1926805" cy="1972708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F0CF072D-BBA1-3ED2-CD3E-ECFCA6E200F0}"/>
              </a:ext>
            </a:extLst>
          </p:cNvPr>
          <p:cNvSpPr txBox="1"/>
          <p:nvPr/>
        </p:nvSpPr>
        <p:spPr>
          <a:xfrm>
            <a:off x="1053125" y="1836385"/>
            <a:ext cx="19250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b="1"/>
              <a:t>Seguridad</a:t>
            </a:r>
          </a:p>
        </p:txBody>
      </p:sp>
      <p:pic>
        <p:nvPicPr>
          <p:cNvPr id="17" name="Imagen 16" descr="Imágenes de Folder logo - Descarga gratuita en Magnific (anteriormente  Freepik)">
            <a:extLst>
              <a:ext uri="{FF2B5EF4-FFF2-40B4-BE49-F238E27FC236}">
                <a16:creationId xmlns:a16="http://schemas.microsoft.com/office/drawing/2014/main" id="{2EDE8672-E273-6A58-8206-06E20AE5E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990" y="2204292"/>
            <a:ext cx="1926116" cy="1962839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487474E7-23E3-7E05-BF31-3650FA232A82}"/>
              </a:ext>
            </a:extLst>
          </p:cNvPr>
          <p:cNvSpPr txBox="1"/>
          <p:nvPr/>
        </p:nvSpPr>
        <p:spPr>
          <a:xfrm>
            <a:off x="2827663" y="1840736"/>
            <a:ext cx="191877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 err="1"/>
              <a:t>CargarPrompts</a:t>
            </a:r>
          </a:p>
          <a:p>
            <a:pPr algn="ctr"/>
            <a:endParaRPr lang="es-ES"/>
          </a:p>
        </p:txBody>
      </p:sp>
      <p:pic>
        <p:nvPicPr>
          <p:cNvPr id="20" name="Imagen 19" descr="OkHttp's Ins and Outs (Part 1)">
            <a:extLst>
              <a:ext uri="{FF2B5EF4-FFF2-40B4-BE49-F238E27FC236}">
                <a16:creationId xmlns:a16="http://schemas.microsoft.com/office/drawing/2014/main" id="{BFAD1B6F-3684-2E1B-39A9-CDCFCFFB0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6062" y="4713872"/>
            <a:ext cx="2743199" cy="1157630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F8868DF6-FD0D-FBB8-30A8-386BEC18F439}"/>
              </a:ext>
            </a:extLst>
          </p:cNvPr>
          <p:cNvSpPr txBox="1"/>
          <p:nvPr/>
        </p:nvSpPr>
        <p:spPr>
          <a:xfrm>
            <a:off x="2072184" y="4260096"/>
            <a:ext cx="15211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/>
              <a:t>Peticiones</a:t>
            </a:r>
          </a:p>
        </p:txBody>
      </p:sp>
      <p:pic>
        <p:nvPicPr>
          <p:cNvPr id="23" name="Imagen 22" descr="Java Multithreading">
            <a:extLst>
              <a:ext uri="{FF2B5EF4-FFF2-40B4-BE49-F238E27FC236}">
                <a16:creationId xmlns:a16="http://schemas.microsoft.com/office/drawing/2014/main" id="{5E78D215-2C38-BCB5-9FBA-81C08250D4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9895" y="2981336"/>
            <a:ext cx="1926116" cy="1886846"/>
          </a:xfrm>
          <a:prstGeom prst="rect">
            <a:avLst/>
          </a:prstGeom>
        </p:spPr>
      </p:pic>
      <p:pic>
        <p:nvPicPr>
          <p:cNvPr id="24" name="Imagen 23" descr="Jade">
            <a:extLst>
              <a:ext uri="{FF2B5EF4-FFF2-40B4-BE49-F238E27FC236}">
                <a16:creationId xmlns:a16="http://schemas.microsoft.com/office/drawing/2014/main" id="{F5F9DAAE-942F-BE3E-D59A-F064879A76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6853" y="3111346"/>
            <a:ext cx="1902247" cy="188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229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3E046-7259-99EE-9B35-87AC495FA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0F03A6-8AED-2BC7-D34B-A24B65F4B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18570"/>
          </a:xfrm>
        </p:spPr>
        <p:txBody>
          <a:bodyPr/>
          <a:lstStyle/>
          <a:p>
            <a:r>
              <a:rPr lang="es-ES"/>
              <a:t>Interfaz de usuario y </a:t>
            </a:r>
            <a:r>
              <a:rPr lang="es-ES" err="1"/>
              <a:t>Resumenes</a:t>
            </a:r>
            <a:r>
              <a:rPr lang="es-ES"/>
              <a:t> + Nota IA</a:t>
            </a:r>
            <a:endParaRPr lang="es-ES" err="1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D23DCD7-3192-5A7B-6E8C-226E61AB6ED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78632" y="1178351"/>
            <a:ext cx="11001177" cy="0"/>
          </a:xfrm>
          <a:prstGeom prst="line">
            <a:avLst/>
          </a:prstGeom>
          <a:ln w="38100">
            <a:solidFill>
              <a:srgbClr val="2572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 descr="Curso de Java Swing - Pablo Monteserín">
            <a:extLst>
              <a:ext uri="{FF2B5EF4-FFF2-40B4-BE49-F238E27FC236}">
                <a16:creationId xmlns:a16="http://schemas.microsoft.com/office/drawing/2014/main" id="{0FDA16AF-F708-E20E-E0BF-6921F053F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071" y="1351230"/>
            <a:ext cx="2069449" cy="1171804"/>
          </a:xfrm>
          <a:prstGeom prst="rect">
            <a:avLst/>
          </a:prstGeom>
        </p:spPr>
      </p:pic>
      <p:pic>
        <p:nvPicPr>
          <p:cNvPr id="4" name="Imagen 3" descr="Texto">
            <a:extLst>
              <a:ext uri="{FF2B5EF4-FFF2-40B4-BE49-F238E27FC236}">
                <a16:creationId xmlns:a16="http://schemas.microsoft.com/office/drawing/2014/main" id="{07BFB9D5-2C83-50E9-0CF0-AD982B64ED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01" t="-119" r="20191" b="-311"/>
          <a:stretch>
            <a:fillRect/>
          </a:stretch>
        </p:blipFill>
        <p:spPr>
          <a:xfrm>
            <a:off x="468218" y="2579393"/>
            <a:ext cx="4572008" cy="3844004"/>
          </a:xfrm>
          <a:prstGeom prst="rect">
            <a:avLst/>
          </a:prstGeom>
        </p:spPr>
      </p:pic>
      <p:pic>
        <p:nvPicPr>
          <p:cNvPr id="5" name="Imagen 4" descr="Imagen que contiene Sitio web">
            <a:extLst>
              <a:ext uri="{FF2B5EF4-FFF2-40B4-BE49-F238E27FC236}">
                <a16:creationId xmlns:a16="http://schemas.microsoft.com/office/drawing/2014/main" id="{B643086A-5607-9BA2-1BC0-4BFBD7DE0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7928" y="2790227"/>
            <a:ext cx="6775374" cy="3435017"/>
          </a:xfrm>
          <a:prstGeom prst="rect">
            <a:avLst/>
          </a:prstGeom>
        </p:spPr>
      </p:pic>
      <p:pic>
        <p:nvPicPr>
          <p:cNvPr id="6" name="Imagen 5" descr="Comentarios - Iconos gratis de interfaz">
            <a:extLst>
              <a:ext uri="{FF2B5EF4-FFF2-40B4-BE49-F238E27FC236}">
                <a16:creationId xmlns:a16="http://schemas.microsoft.com/office/drawing/2014/main" id="{7BF196EB-5A4E-F6C6-FA07-C3B3AE8A0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626" y="1504926"/>
            <a:ext cx="927256" cy="983764"/>
          </a:xfrm>
          <a:prstGeom prst="rect">
            <a:avLst/>
          </a:prstGeom>
        </p:spPr>
      </p:pic>
      <p:pic>
        <p:nvPicPr>
          <p:cNvPr id="7" name="Imagen 6" descr="Iconos, Logos, Símbolos de Llm - Descarga Gratuita PNG, SVG">
            <a:extLst>
              <a:ext uri="{FF2B5EF4-FFF2-40B4-BE49-F238E27FC236}">
                <a16:creationId xmlns:a16="http://schemas.microsoft.com/office/drawing/2014/main" id="{21CCB91E-29DF-D5F0-177B-6782BB7F4B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4081" y="1412913"/>
            <a:ext cx="1222873" cy="1167789"/>
          </a:xfrm>
          <a:prstGeom prst="rect">
            <a:avLst/>
          </a:prstGeom>
        </p:spPr>
      </p:pic>
      <p:pic>
        <p:nvPicPr>
          <p:cNvPr id="8" name="Imagen 7" descr="Calificación de estrellas - Iconos gratis de ui">
            <a:extLst>
              <a:ext uri="{FF2B5EF4-FFF2-40B4-BE49-F238E27FC236}">
                <a16:creationId xmlns:a16="http://schemas.microsoft.com/office/drawing/2014/main" id="{ADB0BF3C-B39E-59D4-442D-9F888C131F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8446" y="1340385"/>
            <a:ext cx="1230218" cy="1184315"/>
          </a:xfrm>
          <a:prstGeom prst="rect">
            <a:avLst/>
          </a:prstGeom>
        </p:spPr>
      </p:pic>
      <p:pic>
        <p:nvPicPr>
          <p:cNvPr id="11" name="Imagen 10" descr="Flecha regular - Icono gratis PNG, SVG">
            <a:extLst>
              <a:ext uri="{FF2B5EF4-FFF2-40B4-BE49-F238E27FC236}">
                <a16:creationId xmlns:a16="http://schemas.microsoft.com/office/drawing/2014/main" id="{B4AD8D2F-4FBA-4DE4-EB11-171068FE75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4713" y="1368845"/>
            <a:ext cx="1265105" cy="125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783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99C35-5805-C3D2-F9CA-249143AB6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6A2F21-4FED-79DB-0656-568C1F258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18570"/>
          </a:xfrm>
        </p:spPr>
        <p:txBody>
          <a:bodyPr/>
          <a:lstStyle/>
          <a:p>
            <a:r>
              <a:rPr lang="es-ES" dirty="0"/>
              <a:t>Cálculo de la heurística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AF4567CF-A2AD-98C8-4970-09BDC8F12F4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78632" y="1178351"/>
            <a:ext cx="11001177" cy="0"/>
          </a:xfrm>
          <a:prstGeom prst="line">
            <a:avLst/>
          </a:prstGeom>
          <a:ln w="38100">
            <a:solidFill>
              <a:srgbClr val="2572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Marcador de contenido 2">
            <a:extLst>
              <a:ext uri="{FF2B5EF4-FFF2-40B4-BE49-F238E27FC236}">
                <a16:creationId xmlns:a16="http://schemas.microsoft.com/office/drawing/2014/main" id="{4482E6DA-0049-A21A-5FAE-27D8593E12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1977570"/>
              </p:ext>
            </p:extLst>
          </p:nvPr>
        </p:nvGraphicFramePr>
        <p:xfrm>
          <a:off x="1270000" y="1543368"/>
          <a:ext cx="9164320" cy="4531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9483">
                  <a:extLst>
                    <a:ext uri="{9D8B030D-6E8A-4147-A177-3AD203B41FA5}">
                      <a16:colId xmlns:a16="http://schemas.microsoft.com/office/drawing/2014/main" val="2936270939"/>
                    </a:ext>
                  </a:extLst>
                </a:gridCol>
                <a:gridCol w="3404837">
                  <a:extLst>
                    <a:ext uri="{9D8B030D-6E8A-4147-A177-3AD203B41FA5}">
                      <a16:colId xmlns:a16="http://schemas.microsoft.com/office/drawing/2014/main" val="3843350249"/>
                    </a:ext>
                  </a:extLst>
                </a:gridCol>
              </a:tblGrid>
              <a:tr h="462838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Parámetro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Valor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062460"/>
                  </a:ext>
                </a:extLst>
              </a:tr>
              <a:tr h="462838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811707"/>
                  </a:ext>
                </a:extLst>
              </a:tr>
              <a:tr h="462838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561231"/>
                  </a:ext>
                </a:extLst>
              </a:tr>
              <a:tr h="462838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498856"/>
                  </a:ext>
                </a:extLst>
              </a:tr>
              <a:tr h="462838"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Episodes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81141"/>
                  </a:ext>
                </a:extLst>
              </a:tr>
              <a:tr h="462838"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Duration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666574"/>
                  </a:ext>
                </a:extLst>
              </a:tr>
              <a:tr h="462838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307576"/>
                  </a:ext>
                </a:extLst>
              </a:tr>
              <a:tr h="462838"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Keywords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47295"/>
                  </a:ext>
                </a:extLst>
              </a:tr>
              <a:tr h="462838"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Themes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034907"/>
                  </a:ext>
                </a:extLst>
              </a:tr>
              <a:tr h="34645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50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6650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F1994-C47A-D62D-D630-28A2E9DA7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3DA0B-8167-6588-2107-8B643F2EB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18570"/>
          </a:xfrm>
        </p:spPr>
        <p:txBody>
          <a:bodyPr/>
          <a:lstStyle/>
          <a:p>
            <a:r>
              <a:rPr lang="es-ES"/>
              <a:t>Cálculo de la Heurística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024ABB77-607F-7D28-BFC1-EC63BDEC0E3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78632" y="1178351"/>
            <a:ext cx="11001177" cy="0"/>
          </a:xfrm>
          <a:prstGeom prst="line">
            <a:avLst/>
          </a:prstGeom>
          <a:ln w="38100">
            <a:solidFill>
              <a:srgbClr val="2572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B8FD46AB-699B-D56A-E7C2-281F9A959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33" y="1526482"/>
            <a:ext cx="7395029" cy="3388268"/>
          </a:xfrm>
          <a:prstGeom prst="rect">
            <a:avLst/>
          </a:prstGeom>
        </p:spPr>
      </p:pic>
      <p:pic>
        <p:nvPicPr>
          <p:cNvPr id="6" name="Gráfico 5" descr="Agregar con relleno sólido">
            <a:extLst>
              <a:ext uri="{FF2B5EF4-FFF2-40B4-BE49-F238E27FC236}">
                <a16:creationId xmlns:a16="http://schemas.microsoft.com/office/drawing/2014/main" id="{AC295B62-3739-9E12-819C-F8C8120F1C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1432" y="5852160"/>
            <a:ext cx="914400" cy="914400"/>
          </a:xfrm>
          <a:prstGeom prst="rect">
            <a:avLst/>
          </a:prstGeom>
        </p:spPr>
      </p:pic>
      <p:pic>
        <p:nvPicPr>
          <p:cNvPr id="8" name="Gráfico 7" descr="Matemáticas con relleno sólido">
            <a:extLst>
              <a:ext uri="{FF2B5EF4-FFF2-40B4-BE49-F238E27FC236}">
                <a16:creationId xmlns:a16="http://schemas.microsoft.com/office/drawing/2014/main" id="{56785507-D281-25BC-E0D3-153BCED532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6106" y="4240586"/>
            <a:ext cx="2617414" cy="261741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7F0913F-4B5F-9FE7-CC13-51479846550F}"/>
              </a:ext>
            </a:extLst>
          </p:cNvPr>
          <p:cNvSpPr txBox="1"/>
          <p:nvPr/>
        </p:nvSpPr>
        <p:spPr>
          <a:xfrm>
            <a:off x="7975600" y="1479282"/>
            <a:ext cx="31394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Cálculos con media bayesiana.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Rank logarítmico.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Campana de gauss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Número de apariciones</a:t>
            </a:r>
          </a:p>
        </p:txBody>
      </p:sp>
    </p:spTree>
    <p:extLst>
      <p:ext uri="{BB962C8B-B14F-4D97-AF65-F5344CB8AC3E}">
        <p14:creationId xmlns:p14="http://schemas.microsoft.com/office/powerpoint/2010/main" val="3953293875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9b90351-d68c-423c-a728-bf2f2267b00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2EB7EE2E78B134B826E9EB5639004B5" ma:contentTypeVersion="8" ma:contentTypeDescription="Crear nuevo documento." ma:contentTypeScope="" ma:versionID="f8f2c3154c3dce05b344c93e23a303e5">
  <xsd:schema xmlns:xsd="http://www.w3.org/2001/XMLSchema" xmlns:xs="http://www.w3.org/2001/XMLSchema" xmlns:p="http://schemas.microsoft.com/office/2006/metadata/properties" xmlns:ns3="49b90351-d68c-423c-a728-bf2f2267b004" xmlns:ns4="8f6afe23-8eb0-49e5-a414-e0658cc03a88" targetNamespace="http://schemas.microsoft.com/office/2006/metadata/properties" ma:root="true" ma:fieldsID="4b102e95e58625bcd0b5ed26a5f5f5ad" ns3:_="" ns4:_="">
    <xsd:import namespace="49b90351-d68c-423c-a728-bf2f2267b004"/>
    <xsd:import namespace="8f6afe23-8eb0-49e5-a414-e0658cc03a8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b90351-d68c-423c-a728-bf2f2267b0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6afe23-8eb0-49e5-a414-e0658cc03a8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8F6EA6E-17B1-40FF-8781-79ADD504A12F}">
  <ds:schemaRefs>
    <ds:schemaRef ds:uri="http://purl.org/dc/elements/1.1/"/>
    <ds:schemaRef ds:uri="http://schemas.microsoft.com/office/infopath/2007/PartnerControls"/>
    <ds:schemaRef ds:uri="http://www.w3.org/XML/1998/namespace"/>
    <ds:schemaRef ds:uri="http://purl.org/dc/terms/"/>
    <ds:schemaRef ds:uri="http://purl.org/dc/dcmitype/"/>
    <ds:schemaRef ds:uri="http://schemas.microsoft.com/office/2006/metadata/properties"/>
    <ds:schemaRef ds:uri="http://schemas.microsoft.com/office/2006/documentManagement/types"/>
    <ds:schemaRef ds:uri="8f6afe23-8eb0-49e5-a414-e0658cc03a88"/>
    <ds:schemaRef ds:uri="http://schemas.openxmlformats.org/package/2006/metadata/core-properties"/>
    <ds:schemaRef ds:uri="49b90351-d68c-423c-a728-bf2f2267b004"/>
  </ds:schemaRefs>
</ds:datastoreItem>
</file>

<file path=customXml/itemProps2.xml><?xml version="1.0" encoding="utf-8"?>
<ds:datastoreItem xmlns:ds="http://schemas.openxmlformats.org/officeDocument/2006/customXml" ds:itemID="{0C10D20B-CCA4-4F65-902A-22E6B6B34016}">
  <ds:schemaRefs>
    <ds:schemaRef ds:uri="49b90351-d68c-423c-a728-bf2f2267b004"/>
    <ds:schemaRef ds:uri="8f6afe23-8eb0-49e5-a414-e0658cc03a8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6CE7B81-8EB3-4F9A-85C5-745E3ACCE6F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</Words>
  <Application>Microsoft Office PowerPoint</Application>
  <PresentationFormat>Panorámica</PresentationFormat>
  <Paragraphs>143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Courier New</vt:lpstr>
      <vt:lpstr>Neue Haas Grotesk Text Pro</vt:lpstr>
      <vt:lpstr>VanillaVTI</vt:lpstr>
      <vt:lpstr>Práctica Sistemas Inteligentes</vt:lpstr>
      <vt:lpstr>Sistema recomendador de animes</vt:lpstr>
      <vt:lpstr>Diagrama organización</vt:lpstr>
      <vt:lpstr>Diagrama organización</vt:lpstr>
      <vt:lpstr>Diagrama organización</vt:lpstr>
      <vt:lpstr>Diagrama organización</vt:lpstr>
      <vt:lpstr>Diagrama organización</vt:lpstr>
      <vt:lpstr>Diagrama organización</vt:lpstr>
      <vt:lpstr>Diagrama organización</vt:lpstr>
      <vt:lpstr>Diagrama organización</vt:lpstr>
      <vt:lpstr>Compresión Semántica</vt:lpstr>
      <vt:lpstr>GroqService y UIAgent</vt:lpstr>
      <vt:lpstr>Interfaz de usuario y Resumenes + Nota IA</vt:lpstr>
      <vt:lpstr>Cálculo de la heurística</vt:lpstr>
      <vt:lpstr>Cálculo de la Heurística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LEONARDO LIN</dc:creator>
  <cp:lastModifiedBy>ALEJANDRO DE LORENZO ESCRIBANO</cp:lastModifiedBy>
  <cp:revision>1</cp:revision>
  <dcterms:created xsi:type="dcterms:W3CDTF">2026-05-24T20:17:09Z</dcterms:created>
  <dcterms:modified xsi:type="dcterms:W3CDTF">2026-05-25T22:02:52Z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0x01010062EB7EE2E78B134B826E9EB5639004B5</vt:lpwstr>
  </property>
</Properties>
</file>